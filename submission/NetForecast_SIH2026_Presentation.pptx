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 (baseline)</c:v>
                </c:pt>
              </c:strCache>
            </c:strRef>
          </c:tx>
          <c:spPr>
            <a:solidFill>
              <a:srgbClr val="F45B69"/>
            </a:solidFill>
          </c:spPr>
          <c:cat>
            <c:strRef>
              <c:f>Sheet1!$A$2:$A$5</c:f>
              <c:strCache>
                <c:ptCount val="4"/>
                <c:pt idx="0">
                  <c:v>Precision</c:v>
                </c:pt>
                <c:pt idx="1">
                  <c:v>Recall</c:v>
                </c:pt>
                <c:pt idx="2">
                  <c:v>F1 Score</c:v>
                </c:pt>
                <c:pt idx="3">
                  <c:v>False Positive Rate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0.313</c:v>
                </c:pt>
                <c:pt idx="1">
                  <c:v>0.78</c:v>
                </c:pt>
                <c:pt idx="2">
                  <c:v>0.447</c:v>
                </c:pt>
                <c:pt idx="3">
                  <c:v>0.828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LSTM World Model</c:v>
                </c:pt>
              </c:strCache>
            </c:strRef>
          </c:tx>
          <c:spPr>
            <a:solidFill>
              <a:srgbClr val="34D399"/>
            </a:solidFill>
          </c:spPr>
          <c:cat>
            <c:strRef>
              <c:f>Sheet1!$A$2:$A$5</c:f>
              <c:strCache>
                <c:ptCount val="4"/>
                <c:pt idx="0">
                  <c:v>Precision</c:v>
                </c:pt>
                <c:pt idx="1">
                  <c:v>Recall</c:v>
                </c:pt>
                <c:pt idx="2">
                  <c:v>F1 Score</c:v>
                </c:pt>
                <c:pt idx="3">
                  <c:v>False Positive Rate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0.842</c:v>
                </c:pt>
                <c:pt idx="1">
                  <c:v>0.823</c:v>
                </c:pt>
                <c:pt idx="2">
                  <c:v>0.832</c:v>
                </c:pt>
                <c:pt idx="3">
                  <c:v>0.075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F5F7F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C"/>
            </a:solidFill>
          </a:ln>
        </c:spPr>
        <c:txPr>
          <a:bodyPr/>
          <a:lstStyle/>
          <a:p>
            <a:pPr>
              <a:defRPr sz="1100">
                <a:solidFill>
                  <a:srgbClr val="F5F7F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355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55C"/>
            </a:solidFill>
          </a:ln>
        </c:spPr>
        <c:txPr>
          <a:bodyPr/>
          <a:lstStyle/>
          <a:p>
            <a:pPr>
              <a:defRPr sz="1000">
                <a:solidFill>
                  <a:srgbClr val="A8B2C7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5F7FA"/>
              </a:solidFill>
            </a:defRPr>
          </a:pPr>
        </a:p>
      </c:txPr>
    </c:legend>
    <c:dispBlanksAs val="gap"/>
  </c:chart>
  <c:txPr>
    <a:bodyPr/>
    <a:lstStyle/>
    <a:p>
      <a:pPr>
        <a:defRPr sz="1800">
          <a:solidFill>
            <a:srgbClr val="F5F7FA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5F7FA"/>
                </a:solidFill>
                <a:latin typeface="Calibri"/>
              </a:rPr>
              <a:t>NetForecast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2D3EE"/>
                </a:solidFill>
                <a:latin typeface="Calibri"/>
              </a:rPr>
              <a:t>AI World Model for Network Attack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A8B2C7"/>
                </a:solidFill>
                <a:latin typeface="Calibri"/>
              </a:rPr>
              <a:t>Forecasting infiltration before compromise completes — not just classifying it after.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14800"/>
            <a:ext cx="2514600" cy="822960"/>
          </a:xfrm>
          <a:prstGeom prst="roundRect">
            <a:avLst>
              <a:gd name="adj" fmla="val 18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4206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8B2C7"/>
                </a:solidFill>
                <a:latin typeface="Calibri"/>
              </a:rPr>
              <a:t>PS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4988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5F7FA"/>
                </a:solidFill>
                <a:latin typeface="Calibri"/>
              </a:rPr>
              <a:t>SIH26153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4114800"/>
            <a:ext cx="2514600" cy="822960"/>
          </a:xfrm>
          <a:prstGeom prst="roundRect">
            <a:avLst>
              <a:gd name="adj" fmla="val 18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4206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8B2C7"/>
                </a:solidFill>
                <a:latin typeface="Calibri"/>
              </a:rPr>
              <a:t>Organisation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44988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5F7FA"/>
                </a:solidFill>
                <a:latin typeface="Calibri"/>
              </a:rPr>
              <a:t>NTRO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2514600" cy="822960"/>
          </a:xfrm>
          <a:prstGeom prst="roundRect">
            <a:avLst>
              <a:gd name="adj" fmla="val 18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206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8B2C7"/>
                </a:solidFill>
                <a:latin typeface="Calibri"/>
              </a:rPr>
              <a:t>Category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44988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5F7FA"/>
                </a:solidFill>
                <a:latin typeface="Calibri"/>
              </a:rPr>
              <a:t>Software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4114800"/>
            <a:ext cx="2514600" cy="822960"/>
          </a:xfrm>
          <a:prstGeom prst="roundRect">
            <a:avLst>
              <a:gd name="adj" fmla="val 18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4206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8B2C7"/>
                </a:solidFill>
                <a:latin typeface="Calibri"/>
              </a:rPr>
              <a:t>Theme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44988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5F7FA"/>
                </a:solidFill>
                <a:latin typeface="Calibri"/>
              </a:rPr>
              <a:t>Blockchain &amp; Cybersecurity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A8B2C7"/>
                </a:solidFill>
                <a:latin typeface="Calibri"/>
              </a:rPr>
              <a:t>Problem Statement: AI-based Network Attack Forecasting from Network Traffic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NETFORECAST  •  SIH 2026  •  PS 26153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Problem &amp; Approach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72768"/>
            <a:ext cx="11091672" cy="0"/>
          </a:xfrm>
          <a:prstGeom prst="line">
            <a:avLst/>
          </a:prstGeom>
          <a:ln w="12700">
            <a:solidFill>
              <a:srgbClr val="2A3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182880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 w="12700">
            <a:solidFill>
              <a:srgbClr val="F45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45B69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>
                <a:solidFill>
                  <a:srgbClr val="F5F7FA"/>
                </a:solidFill>
              </a:rPr>
              <a:t>Static classifiers score each flow in isolation (benign / malicious).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>
                <a:solidFill>
                  <a:srgbClr val="F5F7FA"/>
                </a:solidFill>
              </a:rPr>
              <a:t>They discard the temporal &amp; causal structure of a real attack:
scan → exploit → pivot → beacon → exfiltrate.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>
                <a:solidFill>
                  <a:srgbClr val="F5F7FA"/>
                </a:solidFill>
              </a:rPr>
              <a:t>Alerts fire only after malicious flows are already captured —
often too late to prevent compromise.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OUR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>
                <a:solidFill>
                  <a:srgbClr val="F5F7FA"/>
                </a:solidFill>
              </a:rPr>
              <a:t>NetForecast learns a World Model of the network's own state
P(S(t+1) | S(t)) — how traffic evolves, not just what it 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>
                <a:solidFill>
                  <a:srgbClr val="F5F7FA"/>
                </a:solidFill>
              </a:rPr>
              <a:t>K-step forward rollout simulates where the current trajectory
is heading — before it fully unfolds.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>
                <a:solidFill>
                  <a:srgbClr val="F5F7FA"/>
                </a:solidFill>
              </a:rPr>
              <a:t>Fully offline pipeline: features → LSTM world model → K-step
forecaster → MITRE ATT&amp;CK mapping → analyst dashboard.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NetForecast — AI World Model for Network Attack Forecasting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NETFORECAST  •  SIH 2026  •  PS 26153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A8B2C7"/>
                </a:solidFill>
                <a:latin typeface="Calibri"/>
              </a:rPr>
              <a:t>Flow records in → forecasted infiltration risk + explanation out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72768"/>
            <a:ext cx="11091672" cy="0"/>
          </a:xfrm>
          <a:prstGeom prst="line">
            <a:avLst/>
          </a:prstGeom>
          <a:ln w="12700">
            <a:solidFill>
              <a:srgbClr val="2A3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2377440"/>
            <a:ext cx="1962851" cy="141732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5F7FA"/>
                </a:solidFill>
              </a:rPr>
              <a:t>Flow Records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CSV / PCAP
(CIC-IDS2017 + synthetic)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31491" y="3086100.0"/>
            <a:ext cx="280040" cy="0.0"/>
          </a:xfrm>
          <a:prstGeom prst="line">
            <a:avLst/>
          </a:prstGeom>
          <a:ln w="285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31531" y="2377440"/>
            <a:ext cx="1962851" cy="141732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5F7FA"/>
                </a:solidFill>
              </a:rPr>
              <a:t>Feature
Extraction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features.py
33-dim windowed state S(t)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14382" y="3086100.0"/>
            <a:ext cx="280040" cy="0.0"/>
          </a:xfrm>
          <a:prstGeom prst="line">
            <a:avLst/>
          </a:prstGeom>
          <a:ln w="285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14422" y="2377440"/>
            <a:ext cx="1962851" cy="141732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5F7FA"/>
                </a:solidFill>
              </a:rPr>
              <a:t>LSTM World
Model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world_model.py
encoder + attention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97273" y="3086100.0"/>
            <a:ext cx="280040" cy="0.0"/>
          </a:xfrm>
          <a:prstGeom prst="line">
            <a:avLst/>
          </a:prstGeom>
          <a:ln w="285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97313" y="2377440"/>
            <a:ext cx="1962851" cy="141732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5F7FA"/>
                </a:solidFill>
              </a:rPr>
              <a:t>Prediction
Engine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predict.py
K-step rollout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80164" y="3086100.0"/>
            <a:ext cx="280040" cy="0.0"/>
          </a:xfrm>
          <a:prstGeom prst="line">
            <a:avLst/>
          </a:prstGeom>
          <a:ln w="285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80204" y="2377440"/>
            <a:ext cx="1962851" cy="141732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5F7FA"/>
                </a:solidFill>
              </a:rPr>
              <a:t>Analyst
Dashboard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Streamlit demo
risk + MITRE stage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97680"/>
            <a:ext cx="11091672" cy="173736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Calibri"/>
              </a:rPr>
              <a:t>EVERY PREDICTION CARRIES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06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 b="1">
                <a:solidFill>
                  <a:srgbClr val="22D3EE"/>
                </a:solidFill>
              </a:rPr>
              <a:t>MITRE ATT&amp;CK stage — </a:t>
            </a:r>
            <a:r>
              <a:rPr sz="1350">
                <a:solidFill>
                  <a:srgbClr val="F5F7FA"/>
                </a:solidFill>
              </a:rPr>
              <a:t>mitre_mapping.py maps predicted stage to its Enterprise tactic ID (TA0043, TA0001, TA0008, TA0011, TA0010).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 b="1">
                <a:solidFill>
                  <a:srgbClr val="22D3EE"/>
                </a:solidFill>
              </a:rPr>
              <a:t>Explainability — </a:t>
            </a:r>
            <a:r>
              <a:rPr sz="1350">
                <a:solidFill>
                  <a:srgbClr val="F5F7FA"/>
                </a:solidFill>
              </a:rPr>
              <a:t>attention weights (which recent windows mattered) + gradient×input saliency (which features mattered).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NetForecast — AI World Model for Network Attack Forecasting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NETFORECAST  •  SIH 2026  •  PS 26153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Key Features &amp; Technology Stack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72768"/>
            <a:ext cx="11091672" cy="0"/>
          </a:xfrm>
          <a:prstGeom prst="line">
            <a:avLst/>
          </a:prstGeom>
          <a:ln w="12700">
            <a:solidFill>
              <a:srgbClr val="2A3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>
                <a:solidFill>
                  <a:srgbClr val="F5F7FA"/>
                </a:solidFill>
              </a:rPr>
              <a:t>Windowed flow + packet-level features with engineered
kill-chain signatures (scan ratio, beacon regularity, admin-port ratio).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>
                <a:solidFill>
                  <a:srgbClr val="F5F7FA"/>
                </a:solidFill>
              </a:rPr>
              <a:t>LSTM world model learns state transition dynamics —
not just a per-flow label.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>
                <a:solidFill>
                  <a:srgbClr val="F5F7FA"/>
                </a:solidFill>
              </a:rPr>
              <a:t>K-step forward rollout → forecasted infiltration-probability
trajectory, not a single score.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>
                <a:solidFill>
                  <a:srgbClr val="F5F7FA"/>
                </a:solidFill>
              </a:rPr>
              <a:t>Built-in explainability on every prediction (attention +
saliency), SHAP cross-check on the baseline.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>
                <a:solidFill>
                  <a:srgbClr val="F5F7FA"/>
                </a:solidFill>
              </a:rPr>
              <a:t>Offline Streamlit demo — switch between real (CIC-IDS2017)
and synthetic checkpoints.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>
                <a:solidFill>
                  <a:srgbClr val="F5F7FA"/>
                </a:solidFill>
              </a:rPr>
              <a:t>Benchmarked vs. logistic-regression baseline on an identical,
chronologically held-out test split.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TECHNOLOGY STACK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286000"/>
            <a:ext cx="5212080" cy="658368"/>
          </a:xfrm>
          <a:prstGeom prst="roundRect">
            <a:avLst>
              <a:gd name="adj" fmla="val 16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37960" y="240487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F5F7FA"/>
                </a:solidFill>
              </a:rPr>
              <a:t>AI / 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9152"/>
            <a:ext cx="3429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7FA"/>
                </a:solidFill>
                <a:latin typeface="Calibri"/>
              </a:rPr>
              <a:t>PyTorch (LSTM world model), scikit-learn (baseline), SHAP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063240"/>
            <a:ext cx="5212080" cy="658368"/>
          </a:xfrm>
          <a:prstGeom prst="roundRect">
            <a:avLst>
              <a:gd name="adj" fmla="val 16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318211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F5F7FA"/>
                </a:solidFill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136392"/>
            <a:ext cx="3429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7FA"/>
                </a:solidFill>
                <a:latin typeface="Calibri"/>
              </a:rPr>
              <a:t>pandas, NumPy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840480"/>
            <a:ext cx="5212080" cy="658368"/>
          </a:xfrm>
          <a:prstGeom prst="roundRect">
            <a:avLst>
              <a:gd name="adj" fmla="val 16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37960" y="395935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F5F7FA"/>
                </a:solidFill>
              </a:rPr>
              <a:t>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913632"/>
            <a:ext cx="3429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7FA"/>
                </a:solidFill>
                <a:latin typeface="Calibri"/>
              </a:rPr>
              <a:t>CIC-IDS2017 (real) + custom synthetic generator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617720"/>
            <a:ext cx="5212080" cy="658368"/>
          </a:xfrm>
          <a:prstGeom prst="roundRect">
            <a:avLst>
              <a:gd name="adj" fmla="val 16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73659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F5F7FA"/>
                </a:solidFill>
              </a:rPr>
              <a:t>Demo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690872"/>
            <a:ext cx="3429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7FA"/>
                </a:solidFill>
                <a:latin typeface="Calibri"/>
              </a:rPr>
              <a:t>Streamlit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394960"/>
            <a:ext cx="5212080" cy="658368"/>
          </a:xfrm>
          <a:prstGeom prst="roundRect">
            <a:avLst>
              <a:gd name="adj" fmla="val 16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551383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F5F7FA"/>
                </a:solidFill>
              </a:rPr>
              <a:t>Language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468112"/>
            <a:ext cx="3429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7FA"/>
                </a:solidFill>
                <a:latin typeface="Calibri"/>
              </a:rPr>
              <a:t>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NetForecast — AI World Model for Network Attack Forecasting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NETFORECAST  •  SIH 2026  •  PS 26153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Results &amp;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A8B2C7"/>
                </a:solidFill>
                <a:latin typeface="Calibri"/>
              </a:rPr>
              <a:t>Benchmarked on real CIC-IDS2017 traffic, chronologically held-out test split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72768"/>
            <a:ext cx="11091672" cy="0"/>
          </a:xfrm>
          <a:prstGeom prst="line">
            <a:avLst/>
          </a:prstGeom>
          <a:ln w="12700">
            <a:solidFill>
              <a:srgbClr val="2A3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874519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26679" y="1874519"/>
            <a:ext cx="3913632" cy="42062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057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468880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F1 nearly double the baseline (0.83 vs 0.45).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An order-of-magnitude fewer false positives
(7.5% vs 82.8%).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Evidence that learning temporal dynamics —
not just per-window features — drives
reliable, actionable forecasting.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Fully offline: no cloud dependency, fits
Critical Information Infrastructure needs.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NetForecast — AI World Model for Network Attack Forecasting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NETFORECAST  •  SIH 2026  •  PS 26153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Explainability &amp; MITRE ATT&amp;CK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A8B2C7"/>
                </a:solidFill>
                <a:latin typeface="Calibri"/>
              </a:rPr>
              <a:t>No prediction is surfaced without an attached explanation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72768"/>
            <a:ext cx="11091672" cy="0"/>
          </a:xfrm>
          <a:prstGeom prst="line">
            <a:avLst/>
          </a:prstGeom>
          <a:ln w="12700">
            <a:solidFill>
              <a:srgbClr val="2A3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TWO INDEPENDENT EXPLANATIONS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 b="1">
                <a:solidFill>
                  <a:srgbClr val="22D3EE"/>
                </a:solidFill>
              </a:rPr>
              <a:t>Attention weights — </a:t>
            </a:r>
            <a:r>
              <a:rPr sz="1350">
                <a:solidFill>
                  <a:srgbClr val="F5F7FA"/>
                </a:solidFill>
              </a:rPr>
              <a:t>which of the last 10 observed time
windows drove the forecast.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 b="1">
                <a:solidFill>
                  <a:srgbClr val="22D3EE"/>
                </a:solidFill>
              </a:rPr>
              <a:t>Gradient × input saliency — </a:t>
            </a:r>
            <a:r>
              <a:rPr sz="1350">
                <a:solidFill>
                  <a:srgbClr val="F5F7FA"/>
                </a:solidFill>
              </a:rPr>
              <a:t>which specific traffic features
(SYN rate, scan ratio, beacon regularity, TTL variance)
contributed most.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22D3EE"/>
                </a:solidFill>
              </a:rPr>
              <a:t>▸  </a:t>
            </a:r>
            <a:r>
              <a:rPr sz="1350" b="1">
                <a:solidFill>
                  <a:srgbClr val="22D3EE"/>
                </a:solidFill>
              </a:rPr>
              <a:t>SHAP (baseline) — </a:t>
            </a:r>
            <a:r>
              <a:rPr sz="1350">
                <a:solidFill>
                  <a:srgbClr val="F5F7FA"/>
                </a:solidFill>
              </a:rPr>
              <a:t>independent, model-agnostic cross-check.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Calibri"/>
              </a:rPr>
              <a:t>KILL-CHAIN STAGE MAPPING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709160"/>
            <a:ext cx="1005840" cy="105156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050" b="1">
                <a:solidFill>
                  <a:srgbClr val="F5F7FA"/>
                </a:solidFill>
              </a:rPr>
              <a:t>Reconnaissance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TA0043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69480" y="5234940"/>
            <a:ext cx="107160" cy="0"/>
          </a:xfrm>
          <a:prstGeom prst="line">
            <a:avLst/>
          </a:prstGeom>
          <a:ln w="285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691640" y="4709160"/>
            <a:ext cx="1005840" cy="105156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050" b="1">
                <a:solidFill>
                  <a:srgbClr val="F5F7FA"/>
                </a:solidFill>
              </a:rPr>
              <a:t>Initial Access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TA0001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12480" y="5234940"/>
            <a:ext cx="107160" cy="0"/>
          </a:xfrm>
          <a:prstGeom prst="line">
            <a:avLst/>
          </a:prstGeom>
          <a:ln w="285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34640" y="4709160"/>
            <a:ext cx="1005840" cy="105156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050" b="1">
                <a:solidFill>
                  <a:srgbClr val="F5F7FA"/>
                </a:solidFill>
              </a:rPr>
              <a:t>Lateral
Movement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TA0008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55480" y="5234940"/>
            <a:ext cx="107160" cy="0"/>
          </a:xfrm>
          <a:prstGeom prst="line">
            <a:avLst/>
          </a:prstGeom>
          <a:ln w="285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977640" y="4709160"/>
            <a:ext cx="1005840" cy="105156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050" b="1">
                <a:solidFill>
                  <a:srgbClr val="F5F7FA"/>
                </a:solidFill>
              </a:rPr>
              <a:t>Command &amp;
Control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TA0011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98480" y="5234940"/>
            <a:ext cx="107160" cy="0"/>
          </a:xfrm>
          <a:prstGeom prst="line">
            <a:avLst/>
          </a:prstGeom>
          <a:ln w="285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4709160"/>
            <a:ext cx="1005840" cy="1051560"/>
          </a:xfrm>
          <a:prstGeom prst="roundRect">
            <a:avLst>
              <a:gd name="adj" fmla="val 14000"/>
            </a:avLst>
          </a:prstGeom>
          <a:solidFill>
            <a:srgbClr val="111A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050" b="1">
                <a:solidFill>
                  <a:srgbClr val="F5F7FA"/>
                </a:solidFill>
              </a:rPr>
              <a:t>Exfiltration</a:t>
            </a:r>
          </a:p>
          <a:p>
            <a:pPr algn="ctr"/>
            <a:r>
              <a:rPr sz="950">
                <a:solidFill>
                  <a:srgbClr val="A8B2C7"/>
                </a:solidFill>
              </a:rPr>
              <a:t>TA0010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239512" cy="3977639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 w="12700">
            <a:solidFill>
              <a:srgbClr val="2A3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11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Calibri"/>
              </a:rPr>
              <a:t>ANALYST DASHBOARD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42316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Rolling infiltration-probability timeline across the file.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K-step forward simulation from the current state:
per-step probability + predicted MITRE stage.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Attention &amp; saliency charts alongside every score.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22D3EE"/>
                </a:solidFill>
              </a:rPr>
              <a:t>▸  </a:t>
            </a:r>
            <a:r>
              <a:rPr sz="1300">
                <a:solidFill>
                  <a:srgbClr val="F5F7FA"/>
                </a:solidFill>
              </a:rPr>
              <a:t>Raw flows behind a flagged window, for analyst drill-down.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NetForecast — AI World Model for Network Attack Forecasting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D3EE"/>
                </a:solidFill>
                <a:latin typeface="Calibri"/>
              </a:rPr>
              <a:t>NETFORECAST  •  SIH 2026  •  PS 26153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Future Scope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72768"/>
            <a:ext cx="11091672" cy="0"/>
          </a:xfrm>
          <a:prstGeom prst="line">
            <a:avLst/>
          </a:prstGeom>
          <a:ln w="12700">
            <a:solidFill>
              <a:srgbClr val="2A3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 b="1">
                <a:solidFill>
                  <a:srgbClr val="22D3EE"/>
                </a:solidFill>
              </a:rPr>
              <a:t>Graph-based state — </a:t>
            </a:r>
            <a:r>
              <a:rPr sz="1450">
                <a:solidFill>
                  <a:srgbClr val="F5F7FA"/>
                </a:solidFill>
              </a:rPr>
              <a:t>per-host nodes + GNN encoder for
larger enterprise topologies.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 b="1">
                <a:solidFill>
                  <a:srgbClr val="22D3EE"/>
                </a:solidFill>
              </a:rPr>
              <a:t>Streaming ingest — </a:t>
            </a:r>
            <a:r>
              <a:rPr sz="1450">
                <a:solidFill>
                  <a:srgbClr val="F5F7FA"/>
                </a:solidFill>
              </a:rPr>
              <a:t>Kafka / NetFlow collector feed instead
of CSV batch files, for real-time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 b="1">
                <a:solidFill>
                  <a:srgbClr val="22D3EE"/>
                </a:solidFill>
              </a:rPr>
              <a:t>More datasets — </a:t>
            </a:r>
            <a:r>
              <a:rPr sz="1450">
                <a:solidFill>
                  <a:srgbClr val="F5F7FA"/>
                </a:solidFill>
              </a:rPr>
              <a:t>adapters for CIC-IDS2018, CTU-13,
CICIoT2023 to broaden attack coverage.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2D3EE"/>
                </a:solidFill>
              </a:rPr>
              <a:t>▸  </a:t>
            </a:r>
            <a:r>
              <a:rPr sz="1450" b="1">
                <a:solidFill>
                  <a:srgbClr val="22D3EE"/>
                </a:solidFill>
              </a:rPr>
              <a:t>SOC integration — </a:t>
            </a:r>
            <a:r>
              <a:rPr sz="1450">
                <a:solidFill>
                  <a:srgbClr val="F5F7FA"/>
                </a:solidFill>
              </a:rPr>
              <a:t>SIEM/SOAR plug-in for direct analyst
alerting and automated response triggers.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239512" cy="393192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2395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5F7FA"/>
                </a:solidFill>
                <a:latin typeface="Calibri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063240"/>
            <a:ext cx="52395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D3EE"/>
                </a:solidFill>
                <a:latin typeface="Calibri"/>
              </a:rPr>
              <a:t>NetForecast — SIH 2026, PS 26153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74720"/>
            <a:ext cx="52395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A8B2C7"/>
                </a:solidFill>
                <a:latin typeface="Calibri"/>
              </a:rPr>
              <a:t>Forecasting the attack before it finishes —</a:t>
            </a:r>
          </a:p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A8B2C7"/>
                </a:solidFill>
                <a:latin typeface="Calibri"/>
              </a:rPr>
              <a:t>explainably, offline, on real traffic.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NetForecast — AI World Model for Network Attack Forecasting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B2C7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