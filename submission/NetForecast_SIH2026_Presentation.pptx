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 (baseline)</c:v>
                </c:pt>
              </c:strCache>
            </c:strRef>
          </c:tx>
          <c:spPr>
            <a:solidFill>
              <a:srgbClr val="F4636F"/>
            </a:solidFill>
          </c:spPr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  <c:pt idx="3">
                  <c:v>False Positive Rate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0.313</c:v>
                </c:pt>
                <c:pt idx="1">
                  <c:v>0.78</c:v>
                </c:pt>
                <c:pt idx="2">
                  <c:v>0.447</c:v>
                </c:pt>
                <c:pt idx="3">
                  <c:v>0.828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 World Model</c:v>
                </c:pt>
              </c:strCache>
            </c:strRef>
          </c:tx>
          <c:spPr>
            <a:solidFill>
              <a:srgbClr val="34D399"/>
            </a:solidFill>
          </c:spPr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 Score</c:v>
                </c:pt>
                <c:pt idx="3">
                  <c:v>False Positive Rate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0.842</c:v>
                </c:pt>
                <c:pt idx="1">
                  <c:v>0.823</c:v>
                </c:pt>
                <c:pt idx="2">
                  <c:v>0.832</c:v>
                </c:pt>
                <c:pt idx="3">
                  <c:v>0.075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50">
                  <a:solidFill>
                    <a:srgbClr val="F3F6F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8315A"/>
            </a:solidFill>
          </a:ln>
        </c:spPr>
        <c:txPr>
          <a:bodyPr/>
          <a:lstStyle/>
          <a:p>
            <a:pPr>
              <a:defRPr sz="1050">
                <a:solidFill>
                  <a:srgbClr val="F3F6F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8315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8315A"/>
            </a:solidFill>
          </a:ln>
        </c:spPr>
        <c:txPr>
          <a:bodyPr/>
          <a:lstStyle/>
          <a:p>
            <a:pPr>
              <a:defRPr sz="950">
                <a:solidFill>
                  <a:srgbClr val="93A0BD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F3F6FB"/>
              </a:solidFill>
            </a:defRPr>
          </a:pPr>
        </a:p>
      </c:txPr>
    </c:legend>
    <c:dispBlanksAs val="gap"/>
  </c:chart>
  <c:txPr>
    <a:bodyPr/>
    <a:lstStyle/>
    <a:p>
      <a:pPr>
        <a:defRPr sz="1800">
          <a:solidFill>
            <a:srgbClr val="F3F6FB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57150" cy="6858000"/>
          </a:xfrm>
          <a:prstGeom prst="roundRect">
            <a:avLst>
              <a:gd name="adj" fmla="val 0"/>
            </a:avLst>
          </a:prstGeom>
          <a:solidFill>
            <a:srgbClr val="22D3EE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50" y="15240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857375"/>
            <a:ext cx="85725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3F6FB"/>
                </a:solidFill>
                <a:latin typeface="Calibri"/>
              </a:rPr>
              <a:t>NetForecast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552700"/>
            <a:ext cx="857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2D3EE"/>
                </a:solidFill>
                <a:latin typeface="Calibri"/>
              </a:rPr>
              <a:t>AI World Model for Network Attack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971800"/>
            <a:ext cx="762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3A0BD"/>
                </a:solidFill>
                <a:latin typeface="Calibri"/>
              </a:rPr>
              <a:t>Forecasting infiltration before compromise completes — not just classifying it after.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200" y="3714750"/>
            <a:ext cx="1905000" cy="666750"/>
          </a:xfrm>
          <a:prstGeom prst="roundRect">
            <a:avLst>
              <a:gd name="adj" fmla="val 18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599" y="3810000"/>
            <a:ext cx="1619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3A0BD"/>
                </a:solidFill>
                <a:latin typeface="Calibri"/>
              </a:rPr>
              <a:t>PS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99" y="4019549"/>
            <a:ext cx="1619250" cy="247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3F6FB"/>
                </a:solidFill>
                <a:latin typeface="Calibri"/>
              </a:rPr>
              <a:t>SIH26153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4650" y="3714750"/>
            <a:ext cx="1905000" cy="666750"/>
          </a:xfrm>
          <a:prstGeom prst="roundRect">
            <a:avLst>
              <a:gd name="adj" fmla="val 18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7050" y="3810000"/>
            <a:ext cx="1619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3A0BD"/>
                </a:solidFill>
                <a:latin typeface="Calibri"/>
              </a:rPr>
              <a:t>ORGANISATION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7050" y="4019549"/>
            <a:ext cx="1619250" cy="247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3F6FB"/>
                </a:solidFill>
                <a:latin typeface="Calibri"/>
              </a:rPr>
              <a:t>NTRO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1100" y="3714750"/>
            <a:ext cx="1905000" cy="666750"/>
          </a:xfrm>
          <a:prstGeom prst="roundRect">
            <a:avLst>
              <a:gd name="adj" fmla="val 18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3500" y="3810000"/>
            <a:ext cx="161925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3A0BD"/>
                </a:solidFill>
                <a:latin typeface="Calibri"/>
              </a:rPr>
              <a:t>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3500" y="4019549"/>
            <a:ext cx="1619250" cy="247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3F6FB"/>
                </a:solidFill>
                <a:latin typeface="Calibri"/>
              </a:rPr>
              <a:t>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6286500"/>
            <a:ext cx="6667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0BD"/>
                </a:solidFill>
                <a:latin typeface="Calibri"/>
              </a:rPr>
              <a:t>Problem Statement: AI-based Network Attack Forecasting from Network Traffic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0" y="62865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D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1500" y="571500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50" y="5143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NETFORECAST  ·  SIH 2026  ·  PS 26153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23900"/>
            <a:ext cx="95250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3F6FB"/>
                </a:solidFill>
                <a:latin typeface="Calibri"/>
              </a:rPr>
              <a:t>Problem &amp; Approach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1500" y="1333500"/>
            <a:ext cx="11049000" cy="0"/>
          </a:xfrm>
          <a:prstGeom prst="line">
            <a:avLst/>
          </a:prstGeom>
          <a:ln w="12700">
            <a:solidFill>
              <a:srgbClr val="283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6000" y="1428750"/>
            <a:ext cx="0" cy="4857750"/>
          </a:xfrm>
          <a:prstGeom prst="line">
            <a:avLst/>
          </a:prstGeom>
          <a:ln w="12700">
            <a:solidFill>
              <a:srgbClr val="283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1500" y="1571625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4636F"/>
                </a:solidFill>
                <a:latin typeface="Calibri"/>
              </a:rPr>
              <a:t>REACTIVE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952624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3F6FB"/>
                </a:solidFill>
                <a:latin typeface="Calibri"/>
              </a:rPr>
              <a:t>Traditional IDS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81250"/>
            <a:ext cx="2095499" cy="857250"/>
          </a:xfrm>
          <a:prstGeom prst="roundRect">
            <a:avLst>
              <a:gd name="adj" fmla="val 10000"/>
            </a:avLst>
          </a:prstGeom>
          <a:solidFill>
            <a:srgbClr val="121A37"/>
          </a:solidFill>
          <a:ln w="17780">
            <a:solidFill>
              <a:srgbClr val="F46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3381375"/>
            <a:ext cx="4953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F4636F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Inspects isolated packets, alerts AFTER breach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F4636F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Discards temporal/causal structure of an attack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F4636F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No forward-looking signal for analysts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0"/>
            <a:ext cx="571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4636F"/>
                </a:solidFill>
                <a:latin typeface="Calibr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1571625"/>
            <a:ext cx="4762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DD4BF"/>
                </a:solidFill>
                <a:latin typeface="Calibri"/>
              </a:rPr>
              <a:t>PROACTIVE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1952624"/>
            <a:ext cx="47625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3F6FB"/>
                </a:solidFill>
                <a:latin typeface="Calibri"/>
              </a:rPr>
              <a:t>NetForecast World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7000" y="2381250"/>
            <a:ext cx="4381500" cy="1047749"/>
          </a:xfrm>
          <a:prstGeom prst="roundRect">
            <a:avLst>
              <a:gd name="adj" fmla="val 10000"/>
            </a:avLst>
          </a:prstGeom>
          <a:solidFill>
            <a:srgbClr val="121A37"/>
          </a:solidFill>
          <a:ln w="1778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7500" y="2714625"/>
            <a:ext cx="4000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3A0BD"/>
                </a:solidFill>
                <a:latin typeface="Calibri"/>
              </a:rPr>
              <a:t>Traffic pattern → forecast cone (uncertainty)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3571875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3F6FB"/>
                </a:solidFill>
                <a:latin typeface="Calibri"/>
              </a:rPr>
              <a:t>Past → Present → Future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3905249"/>
            <a:ext cx="4953000" cy="133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34D399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Learns traffic dynamics over time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34D399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Predicts attack BEFORE compromise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34D399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Forward simulation, not a static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5238750"/>
            <a:ext cx="571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657225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NetForecast — AI World Model for Network Attack Forecasting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58500" y="657225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1500" y="571500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50" y="5143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NETFORECAST  ·  SIH 2026  ·  PS 26153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23900"/>
            <a:ext cx="95250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3F6FB"/>
                </a:solidFill>
                <a:latin typeface="Calibri"/>
              </a:rPr>
              <a:t>State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2395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3A0BD"/>
                </a:solidFill>
                <a:latin typeface="Calibri"/>
              </a:rPr>
              <a:t>How raw traffic becomes one fixed-length vector per window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1543050"/>
            <a:ext cx="11049000" cy="0"/>
          </a:xfrm>
          <a:prstGeom prst="line">
            <a:avLst/>
          </a:prstGeom>
          <a:ln w="12700">
            <a:solidFill>
              <a:srgbClr val="283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1500" y="1666875"/>
            <a:ext cx="2667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DBE2F0"/>
                </a:solidFill>
                <a:latin typeface="Calibri"/>
              </a:rPr>
              <a:t>Every 30 seconds of captured traffic is aggregated into a single fixed-length state vector.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2762250"/>
            <a:ext cx="2476500" cy="571500"/>
          </a:xfrm>
          <a:prstGeom prst="roundRect">
            <a:avLst>
              <a:gd name="adj" fmla="val 16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2838450"/>
            <a:ext cx="20954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3A0BD"/>
                </a:solidFill>
                <a:latin typeface="Calibri"/>
              </a:rPr>
              <a:t>STATE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2990850"/>
            <a:ext cx="2095499" cy="247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F6FB"/>
                </a:solidFill>
                <a:latin typeface="Calibri"/>
              </a:rPr>
              <a:t>33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429000"/>
            <a:ext cx="2476500" cy="571500"/>
          </a:xfrm>
          <a:prstGeom prst="roundRect">
            <a:avLst>
              <a:gd name="adj" fmla="val 16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3900" y="3505200"/>
            <a:ext cx="20954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93A0BD"/>
                </a:solidFill>
                <a:latin typeface="Calibri"/>
              </a:rPr>
              <a:t>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3657600"/>
            <a:ext cx="2095499" cy="247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F6FB"/>
                </a:solidFill>
                <a:latin typeface="Calibri"/>
              </a:rPr>
              <a:t>30 seconds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05249" y="1714500"/>
            <a:ext cx="2000250" cy="1047749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3F6FB"/>
                </a:solidFill>
              </a:rPr>
              <a:t>Flow-Level
Features
TCP Flags, Bytes,
IAT Stats, Duration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5500" y="1714500"/>
            <a:ext cx="2000250" cy="1047749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3F6FB"/>
                </a:solidFill>
              </a:rPr>
              <a:t>Packet-Level
Features
TTL Variance, Window,
Retransmit, Fragment.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5375" y="2857500"/>
            <a:ext cx="9525" cy="0"/>
          </a:xfrm>
          <a:prstGeom prst="line">
            <a:avLst/>
          </a:prstGeom>
          <a:ln w="25400">
            <a:solidFill>
              <a:srgbClr val="465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05375" y="2762250"/>
            <a:ext cx="2047875" cy="619125"/>
          </a:xfrm>
          <a:prstGeom prst="line">
            <a:avLst/>
          </a:prstGeom>
          <a:ln w="17780">
            <a:solidFill>
              <a:srgbClr val="465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953250" y="2762250"/>
            <a:ext cx="1095375" cy="619125"/>
          </a:xfrm>
          <a:prstGeom prst="line">
            <a:avLst/>
          </a:prstGeom>
          <a:ln w="17780">
            <a:solidFill>
              <a:srgbClr val="465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81500" y="3810000"/>
            <a:ext cx="3048000" cy="857250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3F6FB"/>
                </a:solidFill>
              </a:rPr>
              <a:t>Kill-Chain Signatures
Scan Ratio, Half-Open Ratio, Beacon Regularity, Admin Port Ratio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05500" y="4667250"/>
            <a:ext cx="952" cy="0"/>
          </a:xfrm>
          <a:prstGeom prst="line">
            <a:avLst/>
          </a:prstGeom>
          <a:ln w="25400">
            <a:solidFill>
              <a:srgbClr val="465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05500" y="4667250"/>
            <a:ext cx="0" cy="285750"/>
          </a:xfrm>
          <a:prstGeom prst="line">
            <a:avLst/>
          </a:prstGeom>
          <a:ln w="25400">
            <a:solidFill>
              <a:srgbClr val="465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000500" y="4953000"/>
            <a:ext cx="3810000" cy="762000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F3F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3F6FB"/>
                </a:solidFill>
              </a:rPr>
              <a:t>State Vector  St ∈ R^33
Per 30-second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657225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NetForecast — AI World Model for Network Attack Forecasting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500" y="657225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1500" y="571500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50" y="5143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NETFORECAST  ·  SIH 2026  ·  PS 26153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23900"/>
            <a:ext cx="95250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3F6FB"/>
                </a:solidFill>
                <a:latin typeface="Calibri"/>
              </a:rPr>
              <a:t>World Model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2395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3A0BD"/>
                </a:solidFill>
                <a:latin typeface="Calibri"/>
              </a:rPr>
              <a:t>One recurrent context, three prediction heads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1543050"/>
            <a:ext cx="11049000" cy="0"/>
          </a:xfrm>
          <a:prstGeom prst="line">
            <a:avLst/>
          </a:prstGeom>
          <a:ln w="12700">
            <a:solidFill>
              <a:srgbClr val="283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1500" y="1905000"/>
            <a:ext cx="2476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3A0BD"/>
                </a:solidFill>
                <a:latin typeface="Calibri"/>
              </a:rPr>
              <a:t>Last 10 Network Snapshots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2171700"/>
            <a:ext cx="171450" cy="17145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050" y="2171700"/>
            <a:ext cx="171450" cy="17145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0599" y="2171700"/>
            <a:ext cx="171450" cy="17145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00150" y="2171700"/>
            <a:ext cx="171450" cy="17145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09700" y="2171700"/>
            <a:ext cx="171450" cy="17145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19250" y="2171700"/>
            <a:ext cx="171450" cy="17145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28800" y="2171700"/>
            <a:ext cx="171450" cy="17145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38349" y="2171700"/>
            <a:ext cx="171450" cy="17145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47900" y="2171700"/>
            <a:ext cx="171450" cy="17145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57450" y="2171700"/>
            <a:ext cx="171450" cy="17145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2438400"/>
            <a:ext cx="2476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0BD"/>
                </a:solidFill>
                <a:latin typeface="Calibri"/>
              </a:rPr>
              <a:t>S(t-9), S(t-8), ... S(t)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2609850"/>
            <a:ext cx="2476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71799A"/>
                </a:solidFill>
                <a:latin typeface="Calibri"/>
              </a:rPr>
              <a:t>Each = 33 metrics / 30s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24200" y="2333625"/>
            <a:ext cx="304800" cy="0"/>
          </a:xfrm>
          <a:prstGeom prst="line">
            <a:avLst/>
          </a:prstGeom>
          <a:ln w="25400">
            <a:solidFill>
              <a:srgbClr val="465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505200" y="2076450"/>
            <a:ext cx="857250" cy="857250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3F6FB"/>
                </a:solidFill>
              </a:rPr>
              <a:t>Encoder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4700" y="3009900"/>
            <a:ext cx="123825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3A0BD"/>
                </a:solidFill>
                <a:latin typeface="Calibri"/>
              </a:rPr>
              <a:t>Compresses each snapshot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57700" y="2333625"/>
            <a:ext cx="304800" cy="0"/>
          </a:xfrm>
          <a:prstGeom prst="line">
            <a:avLst/>
          </a:prstGeom>
          <a:ln w="25400">
            <a:solidFill>
              <a:srgbClr val="465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838700" y="1981199"/>
            <a:ext cx="1333500" cy="1047749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3F6FB"/>
                </a:solidFill>
              </a:rPr>
              <a:t>LSTM
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8200" y="3105150"/>
            <a:ext cx="1524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3A0BD"/>
                </a:solidFill>
                <a:latin typeface="Calibri"/>
              </a:rPr>
              <a:t>Learns how patterns evolve over time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67450" y="2333625"/>
            <a:ext cx="304800" cy="0"/>
          </a:xfrm>
          <a:prstGeom prst="line">
            <a:avLst/>
          </a:prstGeom>
          <a:ln w="25400">
            <a:solidFill>
              <a:srgbClr val="465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648450" y="2076450"/>
            <a:ext cx="1333500" cy="857250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A1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3F6FB"/>
                </a:solidFill>
              </a:rPr>
              <a:t>Attention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7950" y="3009900"/>
            <a:ext cx="1524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3A0BD"/>
                </a:solidFill>
                <a:latin typeface="Calibri"/>
              </a:rPr>
              <a:t>Focuses on the most suspicious moments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981949" y="857250"/>
            <a:ext cx="1028701" cy="1647825"/>
          </a:xfrm>
          <a:prstGeom prst="line">
            <a:avLst/>
          </a:prstGeom>
          <a:ln w="17780">
            <a:solidFill>
              <a:srgbClr val="465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981949" y="2286000"/>
            <a:ext cx="1028701" cy="219075"/>
          </a:xfrm>
          <a:prstGeom prst="line">
            <a:avLst/>
          </a:prstGeom>
          <a:ln w="17780">
            <a:solidFill>
              <a:srgbClr val="465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981949" y="2505075"/>
            <a:ext cx="1028701" cy="1209675"/>
          </a:xfrm>
          <a:prstGeom prst="line">
            <a:avLst/>
          </a:prstGeom>
          <a:ln w="17780">
            <a:solidFill>
              <a:srgbClr val="465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010650" y="381000"/>
            <a:ext cx="2381250" cy="1047749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3F6FB"/>
                </a:solidFill>
              </a:rPr>
              <a:t>What Happens Next?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3050" y="1123950"/>
            <a:ext cx="20954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0BD"/>
                </a:solidFill>
                <a:latin typeface="Calibri"/>
              </a:rPr>
              <a:t>Predicts the next network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39400" y="476250"/>
            <a:ext cx="85725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3A0BD"/>
                </a:solidFill>
                <a:latin typeface="Calibri"/>
              </a:rPr>
              <a:t>MSE Loss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10650" y="1809750"/>
            <a:ext cx="2381250" cy="1047749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3F6FB"/>
                </a:solidFill>
              </a:rPr>
              <a:t>What Stage of Attack?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3050" y="2552700"/>
            <a:ext cx="20954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0BD"/>
                </a:solidFill>
                <a:latin typeface="Calibri"/>
              </a:rPr>
              <a:t>Maps to MITRE ATT&amp;CK phases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8900" y="1905000"/>
            <a:ext cx="104774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3A0BD"/>
                </a:solidFill>
                <a:latin typeface="Calibri"/>
              </a:rPr>
              <a:t>Cross-Entropy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10650" y="3238500"/>
            <a:ext cx="2381250" cy="1047749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F46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3F6FB"/>
                </a:solidFill>
              </a:rPr>
              <a:t>How Likely Is a Breach?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3050" y="3981450"/>
            <a:ext cx="20954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3A0BD"/>
                </a:solidFill>
                <a:latin typeface="Calibri"/>
              </a:rPr>
              <a:t>Infiltration probability 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34650" y="3333750"/>
            <a:ext cx="76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93A0BD"/>
                </a:solidFill>
                <a:latin typeface="Calibri"/>
              </a:rPr>
              <a:t>BCE Loss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657225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NetForecast — AI World Model for Network Attack Forecasting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58500" y="657225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1500" y="571500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50" y="5143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NETFORECAST  ·  SIH 2026  ·  PS 26153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23900"/>
            <a:ext cx="95250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3F6FB"/>
                </a:solidFill>
                <a:latin typeface="Calibri"/>
              </a:rPr>
              <a:t>K-Step Rollout &amp; Kill-Chain Mapping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1500" y="1333500"/>
            <a:ext cx="11049000" cy="0"/>
          </a:xfrm>
          <a:prstGeom prst="line">
            <a:avLst/>
          </a:prstGeom>
          <a:ln w="12700">
            <a:solidFill>
              <a:srgbClr val="283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486650" y="1428750"/>
            <a:ext cx="0" cy="4857750"/>
          </a:xfrm>
          <a:prstGeom prst="line">
            <a:avLst/>
          </a:prstGeom>
          <a:ln w="12700">
            <a:solidFill>
              <a:srgbClr val="283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1500" y="15240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0BD"/>
                </a:solidFill>
                <a:latin typeface="Calibri"/>
              </a:rPr>
              <a:t>K-STEP FORWARD ROLLOUT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0750" y="1857375"/>
            <a:ext cx="2667000" cy="323850"/>
          </a:xfrm>
          <a:prstGeom prst="roundRect">
            <a:avLst>
              <a:gd name="adj" fmla="val 20000"/>
            </a:avLst>
          </a:prstGeom>
          <a:solidFill>
            <a:srgbClr val="0B0F22"/>
          </a:solidFill>
          <a:ln w="15240">
            <a:solidFill>
              <a:srgbClr val="5B6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0750" y="1924049"/>
            <a:ext cx="266700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685"/>
                </a:solidFill>
                <a:latin typeface="Calibri"/>
              </a:rPr>
              <a:t>Model Simulates Future Network States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" y="2476500"/>
            <a:ext cx="914400" cy="704850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3A4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3F6FB"/>
                </a:solidFill>
              </a:rPr>
              <a:t>t+1</a:t>
            </a:r>
          </a:p>
        </p:txBody>
      </p:sp>
      <p:sp>
        <p:nvSpPr>
          <p:cNvPr id="12" name="Oval 11"/>
          <p:cNvSpPr/>
          <p:nvPr/>
        </p:nvSpPr>
        <p:spPr>
          <a:xfrm>
            <a:off x="1028700" y="2971800"/>
            <a:ext cx="114300" cy="1143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71650" y="2476500"/>
            <a:ext cx="914400" cy="704850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3A4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3F6FB"/>
                </a:solidFill>
              </a:rPr>
              <a:t>t+2</a:t>
            </a:r>
          </a:p>
        </p:txBody>
      </p:sp>
      <p:sp>
        <p:nvSpPr>
          <p:cNvPr id="14" name="Oval 13"/>
          <p:cNvSpPr/>
          <p:nvPr/>
        </p:nvSpPr>
        <p:spPr>
          <a:xfrm>
            <a:off x="2171700" y="2971800"/>
            <a:ext cx="114300" cy="114300"/>
          </a:xfrm>
          <a:prstGeom prst="ellipse">
            <a:avLst/>
          </a:prstGeom>
          <a:solidFill>
            <a:srgbClr val="FA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4650" y="2476500"/>
            <a:ext cx="914400" cy="704850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3A4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3F6FB"/>
                </a:solidFill>
              </a:rPr>
              <a:t>t+3</a:t>
            </a:r>
          </a:p>
        </p:txBody>
      </p:sp>
      <p:sp>
        <p:nvSpPr>
          <p:cNvPr id="16" name="Oval 15"/>
          <p:cNvSpPr/>
          <p:nvPr/>
        </p:nvSpPr>
        <p:spPr>
          <a:xfrm>
            <a:off x="3314700" y="2971800"/>
            <a:ext cx="114300" cy="11430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57650" y="2476500"/>
            <a:ext cx="914400" cy="704850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3A4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3F6FB"/>
                </a:solidFill>
              </a:rPr>
              <a:t>t+4</a:t>
            </a:r>
          </a:p>
        </p:txBody>
      </p:sp>
      <p:sp>
        <p:nvSpPr>
          <p:cNvPr id="18" name="Oval 17"/>
          <p:cNvSpPr/>
          <p:nvPr/>
        </p:nvSpPr>
        <p:spPr>
          <a:xfrm>
            <a:off x="4457700" y="2971800"/>
            <a:ext cx="114300" cy="11430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00650" y="2476500"/>
            <a:ext cx="914400" cy="704850"/>
          </a:xfrm>
          <a:prstGeom prst="roundRect">
            <a:avLst>
              <a:gd name="adj" fmla="val 14000"/>
            </a:avLst>
          </a:prstGeom>
          <a:solidFill>
            <a:srgbClr val="121A37"/>
          </a:solidFill>
          <a:ln w="20320">
            <a:solidFill>
              <a:srgbClr val="3A4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3F6FB"/>
                </a:solidFill>
              </a:rPr>
              <a:t>t+5</a:t>
            </a:r>
          </a:p>
        </p:txBody>
      </p:sp>
      <p:sp>
        <p:nvSpPr>
          <p:cNvPr id="20" name="Oval 19"/>
          <p:cNvSpPr/>
          <p:nvPr/>
        </p:nvSpPr>
        <p:spPr>
          <a:xfrm>
            <a:off x="5600700" y="2971800"/>
            <a:ext cx="114300" cy="114300"/>
          </a:xfrm>
          <a:prstGeom prst="ellipse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543050" y="2828925"/>
            <a:ext cx="228600" cy="0"/>
          </a:xfrm>
          <a:prstGeom prst="line">
            <a:avLst/>
          </a:prstGeom>
          <a:ln w="25400">
            <a:solidFill>
              <a:srgbClr val="465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86050" y="2828925"/>
            <a:ext cx="228600" cy="0"/>
          </a:xfrm>
          <a:prstGeom prst="line">
            <a:avLst/>
          </a:prstGeom>
          <a:ln w="25400">
            <a:solidFill>
              <a:srgbClr val="465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29050" y="2828925"/>
            <a:ext cx="228600" cy="0"/>
          </a:xfrm>
          <a:prstGeom prst="line">
            <a:avLst/>
          </a:prstGeom>
          <a:ln w="25400">
            <a:solidFill>
              <a:srgbClr val="465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72050" y="2828925"/>
            <a:ext cx="228600" cy="0"/>
          </a:xfrm>
          <a:prstGeom prst="line">
            <a:avLst/>
          </a:prstGeom>
          <a:ln w="25400">
            <a:solidFill>
              <a:srgbClr val="465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71500" y="3333750"/>
            <a:ext cx="5905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71799A"/>
                </a:solidFill>
                <a:latin typeface="Calibri"/>
              </a:rPr>
              <a:t>predicted state fed back as 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5905500"/>
            <a:ext cx="57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3F6FB"/>
                </a:solidFill>
                <a:latin typeface="Calibri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0250" y="3619500"/>
            <a:ext cx="571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F3F6FB"/>
                </a:solidFill>
                <a:latin typeface="Calibri"/>
              </a:rPr>
              <a:t>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6143625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0BD"/>
                </a:solidFill>
                <a:latin typeface="Calibri"/>
              </a:rPr>
              <a:t>Infiltration Probability Rising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5750" y="1666875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93A0BD"/>
                </a:solidFill>
                <a:latin typeface="Calibri"/>
              </a:rPr>
              <a:t>MITRE ATT&amp;CK KILL CHAIN MAPPING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5750" y="2019300"/>
            <a:ext cx="57150" cy="381000"/>
          </a:xfrm>
          <a:prstGeom prst="roundRect">
            <a:avLst/>
          </a:prstGeom>
          <a:solidFill>
            <a:srgbClr val="FACD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6249" y="2000250"/>
            <a:ext cx="3333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B"/>
                </a:solidFill>
                <a:latin typeface="Calibri"/>
              </a:rPr>
              <a:t>Reconnaissance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6249" y="2209800"/>
            <a:ext cx="33337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0BD"/>
                </a:solidFill>
                <a:latin typeface="Calibri"/>
              </a:rPr>
              <a:t>Scanning for open ports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5750" y="2762250"/>
            <a:ext cx="57150" cy="38100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6249" y="2743200"/>
            <a:ext cx="3333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B"/>
                </a:solidFill>
                <a:latin typeface="Calibri"/>
              </a:rPr>
              <a:t>Initial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6249" y="2952750"/>
            <a:ext cx="33337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0BD"/>
                </a:solidFill>
                <a:latin typeface="Calibri"/>
              </a:rPr>
              <a:t>Exploiting a vulnerability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5750" y="3505200"/>
            <a:ext cx="57150" cy="3810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6249" y="3486150"/>
            <a:ext cx="3333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B"/>
                </a:solidFill>
                <a:latin typeface="Calibri"/>
              </a:rPr>
              <a:t>Lateral Movement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6249" y="3695700"/>
            <a:ext cx="33337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0BD"/>
                </a:solidFill>
                <a:latin typeface="Calibri"/>
              </a:rPr>
              <a:t>Spreading to other machines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05750" y="4248150"/>
            <a:ext cx="57150" cy="381000"/>
          </a:xfrm>
          <a:prstGeom prst="round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6249" y="4229100"/>
            <a:ext cx="3333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B"/>
                </a:solidFill>
                <a:latin typeface="Calibri"/>
              </a:rPr>
              <a:t>Command &amp;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6249" y="4438650"/>
            <a:ext cx="33337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0BD"/>
                </a:solidFill>
                <a:latin typeface="Calibri"/>
              </a:rPr>
              <a:t>Establishing remote control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5750" y="4991100"/>
            <a:ext cx="57150" cy="381000"/>
          </a:xfrm>
          <a:prstGeom prst="roundRect">
            <a:avLst/>
          </a:prstGeom>
          <a:solidFill>
            <a:srgbClr val="9F1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6249" y="4972050"/>
            <a:ext cx="33337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3F6FB"/>
                </a:solidFill>
                <a:latin typeface="Calibri"/>
              </a:rPr>
              <a:t>Exfiltration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6249" y="5181600"/>
            <a:ext cx="333375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0BD"/>
                </a:solidFill>
                <a:latin typeface="Calibri"/>
              </a:rPr>
              <a:t>Stealing sensitive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" y="657225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NetForecast — AI World Model for Network Attack Forecasting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58500" y="657225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1500" y="571500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50" y="5143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NETFORECAST  ·  SIH 2026  ·  PS 26153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23900"/>
            <a:ext cx="95250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3F6FB"/>
                </a:solidFill>
                <a:latin typeface="Calibri"/>
              </a:rPr>
              <a:t>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2395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3A0BD"/>
                </a:solidFill>
                <a:latin typeface="Calibri"/>
              </a:rPr>
              <a:t>No prediction is surfaced without an attached explanation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1543050"/>
            <a:ext cx="11049000" cy="0"/>
          </a:xfrm>
          <a:prstGeom prst="line">
            <a:avLst/>
          </a:prstGeom>
          <a:ln w="12700">
            <a:solidFill>
              <a:srgbClr val="283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6000" y="1428750"/>
            <a:ext cx="0" cy="4857750"/>
          </a:xfrm>
          <a:prstGeom prst="line">
            <a:avLst/>
          </a:prstGeom>
          <a:ln w="12700">
            <a:solidFill>
              <a:srgbClr val="283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1500" y="1571625"/>
            <a:ext cx="4762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3A0BD"/>
                </a:solidFill>
                <a:latin typeface="Calibri"/>
              </a:rPr>
              <a:t>LEFT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790700"/>
            <a:ext cx="4953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3F6FB"/>
                </a:solidFill>
                <a:latin typeface="Calibri"/>
              </a:rPr>
              <a:t>When Did Suspicious Activity Happen?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0764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Temporal Attention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409825"/>
            <a:ext cx="3238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t-5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0599" y="2381250"/>
            <a:ext cx="3619500" cy="228600"/>
          </a:xfrm>
          <a:prstGeom prst="roundRect">
            <a:avLst>
              <a:gd name="adj" fmla="val 50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0599" y="2381250"/>
            <a:ext cx="1628775" cy="2286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" y="2752725"/>
            <a:ext cx="3238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t-4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0599" y="2724150"/>
            <a:ext cx="3619500" cy="228600"/>
          </a:xfrm>
          <a:prstGeom prst="roundRect">
            <a:avLst>
              <a:gd name="adj" fmla="val 50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0599" y="2724150"/>
            <a:ext cx="651509" cy="2286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" y="3095625"/>
            <a:ext cx="3238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t-3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0599" y="3067050"/>
            <a:ext cx="3619500" cy="228600"/>
          </a:xfrm>
          <a:prstGeom prst="roundRect">
            <a:avLst>
              <a:gd name="adj" fmla="val 50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0599" y="3067050"/>
            <a:ext cx="506730" cy="2286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3438525"/>
            <a:ext cx="3238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t-2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599" y="3409950"/>
            <a:ext cx="3619500" cy="228600"/>
          </a:xfrm>
          <a:prstGeom prst="roundRect">
            <a:avLst>
              <a:gd name="adj" fmla="val 50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0599" y="3409950"/>
            <a:ext cx="2967990" cy="2286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" y="3781425"/>
            <a:ext cx="3238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t-1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0599" y="3752850"/>
            <a:ext cx="3619500" cy="228600"/>
          </a:xfrm>
          <a:prstGeom prst="roundRect">
            <a:avLst>
              <a:gd name="adj" fmla="val 50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0599" y="3752850"/>
            <a:ext cx="3257550" cy="22860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rIns="76200"/>
          <a:lstStyle/>
          <a:p>
            <a:pPr algn="r"/>
            <a:r>
              <a:rPr sz="900" b="1">
                <a:solidFill>
                  <a:srgbClr val="08131C"/>
                </a:solidFill>
              </a:rPr>
              <a:t>Port scan detected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4124325"/>
            <a:ext cx="3238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t-0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0599" y="4095750"/>
            <a:ext cx="3619500" cy="228600"/>
          </a:xfrm>
          <a:prstGeom prst="roundRect">
            <a:avLst>
              <a:gd name="adj" fmla="val 50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0599" y="4095750"/>
            <a:ext cx="1266825" cy="2286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" y="4476750"/>
            <a:ext cx="4953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BE2F0"/>
                </a:solidFill>
                <a:latin typeface="Calibri"/>
              </a:rPr>
              <a:t>The AI remembers and connects suspicious events from minutes ago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0" y="1571625"/>
            <a:ext cx="4762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93A0BD"/>
                </a:solidFill>
                <a:latin typeface="Calibri"/>
              </a:rPr>
              <a:t>RIGHT PANEL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7000" y="1790700"/>
            <a:ext cx="4953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3F6FB"/>
                </a:solidFill>
                <a:latin typeface="Calibri"/>
              </a:rPr>
              <a:t>What Triggered the Warning?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7000" y="20764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Feature Saliency / Attribution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0" y="2409825"/>
            <a:ext cx="11239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Scan Ratio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96199" y="2381250"/>
            <a:ext cx="2667000" cy="228600"/>
          </a:xfrm>
          <a:prstGeom prst="roundRect">
            <a:avLst>
              <a:gd name="adj" fmla="val 50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96199" y="2381250"/>
            <a:ext cx="2533650" cy="22860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7000" y="2752725"/>
            <a:ext cx="11239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SYN Rate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6199" y="2724150"/>
            <a:ext cx="2667000" cy="228600"/>
          </a:xfrm>
          <a:prstGeom prst="roundRect">
            <a:avLst>
              <a:gd name="adj" fmla="val 50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96199" y="2724150"/>
            <a:ext cx="2080260" cy="2286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7000" y="3095625"/>
            <a:ext cx="11239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Beacon Regularity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96199" y="3067050"/>
            <a:ext cx="2667000" cy="228600"/>
          </a:xfrm>
          <a:prstGeom prst="roundRect">
            <a:avLst>
              <a:gd name="adj" fmla="val 50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696199" y="3067050"/>
            <a:ext cx="1866899" cy="2286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7000" y="3438525"/>
            <a:ext cx="11239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Admin Port Ratio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96199" y="3409950"/>
            <a:ext cx="2667000" cy="228600"/>
          </a:xfrm>
          <a:prstGeom prst="roundRect">
            <a:avLst>
              <a:gd name="adj" fmla="val 50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696199" y="3409950"/>
            <a:ext cx="1280160" cy="228600"/>
          </a:xfrm>
          <a:prstGeom prst="roundRect">
            <a:avLst>
              <a:gd name="adj" fmla="val 50000"/>
            </a:avLst>
          </a:prstGeom>
          <a:solidFill>
            <a:srgbClr val="FACD15"/>
          </a:solidFill>
          <a:ln>
            <a:solidFill>
              <a:srgbClr val="FACD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7000" y="3781425"/>
            <a:ext cx="11239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TTL Variance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96199" y="3752850"/>
            <a:ext cx="2667000" cy="228600"/>
          </a:xfrm>
          <a:prstGeom prst="roundRect">
            <a:avLst>
              <a:gd name="adj" fmla="val 50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696199" y="3752850"/>
            <a:ext cx="960120" cy="228600"/>
          </a:xfrm>
          <a:prstGeom prst="roundRect">
            <a:avLst>
              <a:gd name="adj" fmla="val 50000"/>
            </a:avLst>
          </a:prstGeom>
          <a:solidFill>
            <a:srgbClr val="FACD15"/>
          </a:solidFill>
          <a:ln>
            <a:solidFill>
              <a:srgbClr val="FACD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7000" y="4124325"/>
            <a:ext cx="11239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93A0BD"/>
                </a:solidFill>
                <a:latin typeface="Calibri"/>
              </a:rPr>
              <a:t>Byte Ratio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96199" y="4095750"/>
            <a:ext cx="2667000" cy="228600"/>
          </a:xfrm>
          <a:prstGeom prst="roundRect">
            <a:avLst>
              <a:gd name="adj" fmla="val 50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696199" y="4095750"/>
            <a:ext cx="266700" cy="228600"/>
          </a:xfrm>
          <a:prstGeom prst="roundRect">
            <a:avLst>
              <a:gd name="adj" fmla="val 50000"/>
            </a:avLst>
          </a:prstGeom>
          <a:solidFill>
            <a:srgbClr val="5B6685"/>
          </a:solidFill>
          <a:ln>
            <a:solidFill>
              <a:srgbClr val="5B66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7000" y="4476750"/>
            <a:ext cx="4953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BE2F0"/>
                </a:solidFill>
                <a:latin typeface="Calibri"/>
              </a:rPr>
              <a:t>Pinpoints the exact network signals driving the risk score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" y="657225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NetForecast — AI World Model for Network Attack Forecasting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58500" y="657225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1500" y="571500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50" y="5143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NETFORECAST  ·  SIH 2026  ·  PS 26153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23900"/>
            <a:ext cx="95250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3F6FB"/>
                </a:solidFill>
                <a:latin typeface="Calibri"/>
              </a:rPr>
              <a:t>Results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23950"/>
            <a:ext cx="952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3A0BD"/>
                </a:solidFill>
                <a:latin typeface="Calibri"/>
              </a:rPr>
              <a:t>Benchmarked on real CIC-IDS2017 traffic, chronologically held-out test split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1500" y="1543050"/>
            <a:ext cx="11049000" cy="0"/>
          </a:xfrm>
          <a:prstGeom prst="line">
            <a:avLst/>
          </a:prstGeom>
          <a:ln w="12700">
            <a:solidFill>
              <a:srgbClr val="283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71500" y="1714500"/>
          <a:ext cx="6667500" cy="409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24749" y="1714500"/>
            <a:ext cx="4286250" cy="4095750"/>
          </a:xfrm>
          <a:prstGeom prst="roundRect">
            <a:avLst>
              <a:gd name="adj" fmla="val 8000"/>
            </a:avLst>
          </a:prstGeom>
          <a:solidFill>
            <a:srgbClr val="121A3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62875" y="1952624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Calibri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2875" y="2286000"/>
            <a:ext cx="3810000" cy="323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F1 nearly double the baseline (0.83 vs 0.45).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An order-of-magnitude fewer false positives (7.5% vs 82.8%).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Evidence that learning temporal dynamics — not just per-window features — drives reliable forecasting.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Fully offline: no cloud dependency, fits Critical Information Infrastructure needs.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57225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NetForecast — AI World Model for Network Attack Forecasting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0" y="657225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1500" y="571500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50" y="5143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NETFORECAST  ·  SIH 2026  ·  PS 26153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23900"/>
            <a:ext cx="95250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3F6FB"/>
                </a:solidFill>
                <a:latin typeface="Calibri"/>
              </a:rPr>
              <a:t>Key Features &amp; Technology Stack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1500" y="1333500"/>
            <a:ext cx="11049000" cy="0"/>
          </a:xfrm>
          <a:prstGeom prst="line">
            <a:avLst/>
          </a:prstGeom>
          <a:ln w="12700">
            <a:solidFill>
              <a:srgbClr val="283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1500" y="1666875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Calibri"/>
              </a:rPr>
              <a:t>KEY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981199"/>
            <a:ext cx="552450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22D3EE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Windowed flow + packet-level features with engineered kill-chain signatures.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22D3EE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LSTM world model learns state transition dynamics — not just a per-flow label.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22D3EE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K-step forward rollout → forecasted infiltration-probability trajectory.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22D3EE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Built-in explainability on every prediction (attention + saliency), SHAP cross-check.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22D3EE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Offline Streamlit demo — switch between real (CIC-IDS2017) and synthetic checkpoints.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22D3EE"/>
                </a:solidFill>
              </a:rPr>
              <a:t>▸  </a:t>
            </a:r>
            <a:r>
              <a:rPr sz="1300">
                <a:solidFill>
                  <a:srgbClr val="F3F6FB"/>
                </a:solidFill>
              </a:rPr>
              <a:t>Benchmarked vs. logistic-regression baseline on an identical, held-out test split.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1666875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Calibri"/>
              </a:rPr>
              <a:t>TECHNOLOGY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0" y="2000250"/>
            <a:ext cx="5048250" cy="571500"/>
          </a:xfrm>
          <a:prstGeom prst="roundRect">
            <a:avLst>
              <a:gd name="adj" fmla="val 18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00850" y="2114550"/>
            <a:ext cx="1238250" cy="3429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EAFCFF"/>
                </a:solidFill>
              </a:rPr>
              <a:t>AI /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2171700"/>
            <a:ext cx="3333750" cy="2476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BE2F0"/>
                </a:solidFill>
                <a:latin typeface="Calibri"/>
              </a:rPr>
              <a:t>PyTorch, scikit-learn, SHAP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500" y="2686050"/>
            <a:ext cx="5048250" cy="571500"/>
          </a:xfrm>
          <a:prstGeom prst="roundRect">
            <a:avLst>
              <a:gd name="adj" fmla="val 18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00850" y="2800350"/>
            <a:ext cx="1238250" cy="3429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EAFCFF"/>
                </a:solidFill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0" y="2857500"/>
            <a:ext cx="3333750" cy="2476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BE2F0"/>
                </a:solidFill>
                <a:latin typeface="Calibri"/>
              </a:rPr>
              <a:t>pandas, NumPy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500" y="3371850"/>
            <a:ext cx="5048250" cy="571500"/>
          </a:xfrm>
          <a:prstGeom prst="roundRect">
            <a:avLst>
              <a:gd name="adj" fmla="val 18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00850" y="3486150"/>
            <a:ext cx="1238250" cy="3429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EAFCFF"/>
                </a:solidFill>
              </a:rPr>
              <a:t>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0" y="3543300"/>
            <a:ext cx="3333750" cy="2476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BE2F0"/>
                </a:solidFill>
                <a:latin typeface="Calibri"/>
              </a:rPr>
              <a:t>CIC-IDS2017 + synthetic generator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500" y="4057650"/>
            <a:ext cx="5048250" cy="571500"/>
          </a:xfrm>
          <a:prstGeom prst="roundRect">
            <a:avLst>
              <a:gd name="adj" fmla="val 18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00850" y="4171950"/>
            <a:ext cx="1238250" cy="3429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EAFCFF"/>
                </a:solidFill>
              </a:rPr>
              <a:t>DEMO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0" y="4229100"/>
            <a:ext cx="3333750" cy="2476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BE2F0"/>
                </a:solidFill>
                <a:latin typeface="Calibri"/>
              </a:rPr>
              <a:t>Streamlit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500" y="4743450"/>
            <a:ext cx="5048250" cy="571500"/>
          </a:xfrm>
          <a:prstGeom prst="roundRect">
            <a:avLst>
              <a:gd name="adj" fmla="val 18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00850" y="4857750"/>
            <a:ext cx="1238250" cy="342900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EAFCFF"/>
                </a:solidFill>
              </a:rPr>
              <a:t>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0" y="4914900"/>
            <a:ext cx="3333750" cy="2476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DBE2F0"/>
                </a:solidFill>
                <a:latin typeface="Calibri"/>
              </a:rPr>
              <a:t>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657225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NetForecast — AI World Model for Network Attack Forecasting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58500" y="657225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71500" y="571500"/>
            <a:ext cx="66675" cy="66675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850" y="514350"/>
            <a:ext cx="47625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NETFORECAST  ·  SIH 2026  ·  PS 26153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723900"/>
            <a:ext cx="952500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3F6FB"/>
                </a:solidFill>
                <a:latin typeface="Calibri"/>
              </a:rPr>
              <a:t>Future Scope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1500" y="1333500"/>
            <a:ext cx="11049000" cy="0"/>
          </a:xfrm>
          <a:prstGeom prst="line">
            <a:avLst/>
          </a:prstGeom>
          <a:ln w="12700">
            <a:solidFill>
              <a:srgbClr val="283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1500" y="1809750"/>
            <a:ext cx="571500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 b="1">
                <a:solidFill>
                  <a:srgbClr val="22D3EE"/>
                </a:solidFill>
              </a:rPr>
              <a:t>▸  </a:t>
            </a:r>
            <a:r>
              <a:rPr sz="1400" b="1">
                <a:solidFill>
                  <a:srgbClr val="22D3EE"/>
                </a:solidFill>
              </a:rPr>
              <a:t>Graph-based state — </a:t>
            </a:r>
            <a:r>
              <a:rPr sz="1400">
                <a:solidFill>
                  <a:srgbClr val="F3F6FB"/>
                </a:solidFill>
              </a:rPr>
              <a:t>per-host nodes + GNN encoder for larger enterprise topologies.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 b="1">
                <a:solidFill>
                  <a:srgbClr val="22D3EE"/>
                </a:solidFill>
              </a:rPr>
              <a:t>▸  </a:t>
            </a:r>
            <a:r>
              <a:rPr sz="1400" b="1">
                <a:solidFill>
                  <a:srgbClr val="22D3EE"/>
                </a:solidFill>
              </a:rPr>
              <a:t>Streaming ingest — </a:t>
            </a:r>
            <a:r>
              <a:rPr sz="1400">
                <a:solidFill>
                  <a:srgbClr val="F3F6FB"/>
                </a:solidFill>
              </a:rPr>
              <a:t>Kafka/NetFlow collector feed instead of CSV batch files.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 b="1">
                <a:solidFill>
                  <a:srgbClr val="22D3EE"/>
                </a:solidFill>
              </a:rPr>
              <a:t>▸  </a:t>
            </a:r>
            <a:r>
              <a:rPr sz="1400" b="1">
                <a:solidFill>
                  <a:srgbClr val="22D3EE"/>
                </a:solidFill>
              </a:rPr>
              <a:t>More datasets — </a:t>
            </a:r>
            <a:r>
              <a:rPr sz="1400">
                <a:solidFill>
                  <a:srgbClr val="F3F6FB"/>
                </a:solidFill>
              </a:rPr>
              <a:t>adapters for CIC-IDS2018, CTU-13, CICIoT2023.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400" b="1">
                <a:solidFill>
                  <a:srgbClr val="22D3EE"/>
                </a:solidFill>
              </a:rPr>
              <a:t>▸  </a:t>
            </a:r>
            <a:r>
              <a:rPr sz="1400" b="1">
                <a:solidFill>
                  <a:srgbClr val="22D3EE"/>
                </a:solidFill>
              </a:rPr>
              <a:t>SOC integration — </a:t>
            </a:r>
            <a:r>
              <a:rPr sz="1400">
                <a:solidFill>
                  <a:srgbClr val="F3F6FB"/>
                </a:solidFill>
              </a:rPr>
              <a:t>SIEM/SOAR plug-in for direct analyst alerting.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53250" y="1809750"/>
            <a:ext cx="4381500" cy="3333750"/>
          </a:xfrm>
          <a:prstGeom prst="roundRect">
            <a:avLst>
              <a:gd name="adj" fmla="val 8000"/>
            </a:avLst>
          </a:prstGeom>
          <a:solidFill>
            <a:srgbClr val="121A37"/>
          </a:solidFill>
          <a:ln w="12700">
            <a:solidFill>
              <a:srgbClr val="283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53250" y="2476500"/>
            <a:ext cx="4381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3F6FB"/>
                </a:solidFill>
                <a:latin typeface="Calibri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0" y="314325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D3EE"/>
                </a:solidFill>
                <a:latin typeface="Calibri"/>
              </a:rPr>
              <a:t>NetForecast — SIH 2026, PS 26153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0" y="3476625"/>
            <a:ext cx="4381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93A0BD"/>
                </a:solidFill>
                <a:latin typeface="Calibri"/>
              </a:rPr>
              <a:t>Forecasting the attack before it finishes —</a:t>
            </a:r>
          </a:p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93A0BD"/>
                </a:solidFill>
                <a:latin typeface="Calibri"/>
              </a:rPr>
              <a:t>explainably, offline, on real traffic.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572250"/>
            <a:ext cx="571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NetForecast — AI World Model for Network Attack Forecasting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0" y="657225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93A0BD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