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rial Bold" panose="020B0704020202020204" pitchFamily="34" charset="0"/>
      <p:bold r:id="rId8"/>
    </p:embeddedFont>
    <p:embeddedFont>
      <p:font typeface="Times New Roman Bold" panose="02020803070505020304" pitchFamily="18" charset="0"/>
      <p:bold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ROHIT-25607/netforecas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900281" y="1693755"/>
            <a:ext cx="6957908" cy="7732452"/>
          </a:xfrm>
          <a:custGeom>
            <a:avLst/>
            <a:gdLst/>
            <a:ahLst/>
            <a:cxnLst/>
            <a:rect l="l" t="t" r="r" b="b"/>
            <a:pathLst>
              <a:path w="6957908" h="7732452">
                <a:moveTo>
                  <a:pt x="0" y="0"/>
                </a:moveTo>
                <a:lnTo>
                  <a:pt x="6957908" y="0"/>
                </a:lnTo>
                <a:lnTo>
                  <a:pt x="6957908" y="7732452"/>
                </a:lnTo>
                <a:lnTo>
                  <a:pt x="0" y="77324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697449" y="2990288"/>
            <a:ext cx="4805267" cy="5139357"/>
            <a:chOff x="0" y="0"/>
            <a:chExt cx="6407023" cy="68524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7023" cy="6852412"/>
            </a:xfrm>
            <a:custGeom>
              <a:avLst/>
              <a:gdLst/>
              <a:ahLst/>
              <a:cxnLst/>
              <a:rect l="l" t="t" r="r" b="b"/>
              <a:pathLst>
                <a:path w="6407023" h="6852412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49475" b="-1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1959969" y="1312755"/>
            <a:ext cx="12618720" cy="720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1" dirty="0">
                <a:latin typeface="+mj-lt"/>
                <a:ea typeface="Arimo"/>
                <a:cs typeface="Arimo"/>
                <a:sym typeface="Arimo"/>
              </a:rPr>
              <a:t>TITLE PAGE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96929" y="-855878"/>
            <a:ext cx="15544800" cy="314325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6719"/>
              </a:lnSpc>
            </a:pPr>
            <a:r>
              <a:rPr lang="en-US" sz="55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SMART INDIA HACKATHON 2026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88369" y="3131820"/>
            <a:ext cx="11155927" cy="5747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21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–: </a:t>
            </a:r>
            <a:r>
              <a:rPr lang="en-US" sz="362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SIH26153</a:t>
            </a:r>
          </a:p>
          <a:p>
            <a:pPr marL="571500" indent="-5715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21" b="1" dirty="0">
                <a:solidFill>
                  <a:srgbClr val="262626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 –: </a:t>
            </a:r>
            <a:r>
              <a:rPr lang="en-US" sz="3621" u="sng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AI based Network Attack Forecasting from Network Traffic Data</a:t>
            </a:r>
          </a:p>
          <a:p>
            <a:pPr marL="571500" indent="-5715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21" b="1" dirty="0">
                <a:solidFill>
                  <a:srgbClr val="262626"/>
                </a:solidFill>
                <a:latin typeface="Arial Bold"/>
                <a:ea typeface="Arial Bold"/>
                <a:cs typeface="Arial Bold"/>
                <a:sym typeface="Arial Bold"/>
              </a:rPr>
              <a:t>Theme –: </a:t>
            </a:r>
            <a:r>
              <a:rPr lang="en-US" sz="3621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Blockchain &amp; Cybersecurity</a:t>
            </a:r>
          </a:p>
          <a:p>
            <a:pPr marL="571500" indent="-5715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21" b="1" dirty="0">
                <a:solidFill>
                  <a:srgbClr val="262626"/>
                </a:solidFill>
                <a:latin typeface="Arial Bold"/>
                <a:ea typeface="Arial Bold"/>
                <a:cs typeface="Arial Bold"/>
                <a:sym typeface="Arial Bold"/>
              </a:rPr>
              <a:t>PS Category –: </a:t>
            </a:r>
            <a:r>
              <a:rPr lang="en-US" sz="3621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Software</a:t>
            </a:r>
          </a:p>
          <a:p>
            <a:pPr marL="571500" indent="-5715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21" b="1" dirty="0">
                <a:solidFill>
                  <a:srgbClr val="262626"/>
                </a:solidFill>
                <a:latin typeface="Arial Bold"/>
                <a:ea typeface="Arial Bold"/>
                <a:cs typeface="Arial Bold"/>
                <a:sym typeface="Arial Bold"/>
              </a:rPr>
              <a:t>Team ID –: 180189</a:t>
            </a:r>
          </a:p>
          <a:p>
            <a:pPr marL="571500" indent="-5715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21" b="1" dirty="0">
                <a:solidFill>
                  <a:srgbClr val="262626"/>
                </a:solidFill>
                <a:latin typeface="Arial Bold"/>
                <a:ea typeface="Arial Bold"/>
                <a:cs typeface="Arial Bold"/>
                <a:sym typeface="Arial Bold"/>
              </a:rPr>
              <a:t>Team Name –: </a:t>
            </a:r>
            <a:r>
              <a:rPr lang="en-US" sz="3621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_Celeryy_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4762045" y="9449"/>
            <a:ext cx="3313681" cy="1684306"/>
            <a:chOff x="0" y="0"/>
            <a:chExt cx="4418241" cy="2245741"/>
          </a:xfrm>
        </p:grpSpPr>
        <p:sp>
          <p:nvSpPr>
            <p:cNvPr id="11" name="Freeform 11" descr="WhatsApp Image 2026-08-25 at 11.41.35 PM.jpe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70" r="-271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2496376" y="8234591"/>
            <a:ext cx="5760720" cy="891540"/>
            <a:chOff x="0" y="0"/>
            <a:chExt cx="7680960" cy="11887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680960" cy="1188720"/>
            </a:xfrm>
            <a:custGeom>
              <a:avLst/>
              <a:gdLst/>
              <a:ahLst/>
              <a:cxnLst/>
              <a:rect l="l" t="t" r="r" b="b"/>
              <a:pathLst>
                <a:path w="7680960" h="1188720">
                  <a:moveTo>
                    <a:pt x="0" y="198120"/>
                  </a:moveTo>
                  <a:cubicBezTo>
                    <a:pt x="0" y="88646"/>
                    <a:pt x="88646" y="0"/>
                    <a:pt x="198120" y="0"/>
                  </a:cubicBezTo>
                  <a:lnTo>
                    <a:pt x="7482840" y="0"/>
                  </a:lnTo>
                  <a:cubicBezTo>
                    <a:pt x="7592314" y="0"/>
                    <a:pt x="7680960" y="88646"/>
                    <a:pt x="7680960" y="198120"/>
                  </a:cubicBezTo>
                  <a:lnTo>
                    <a:pt x="7680960" y="990600"/>
                  </a:lnTo>
                  <a:cubicBezTo>
                    <a:pt x="7680960" y="1100074"/>
                    <a:pt x="7592314" y="1188720"/>
                    <a:pt x="7482840" y="1188720"/>
                  </a:cubicBezTo>
                  <a:lnTo>
                    <a:pt x="198120" y="1188720"/>
                  </a:lnTo>
                  <a:cubicBezTo>
                    <a:pt x="88646" y="1188720"/>
                    <a:pt x="0" y="1100074"/>
                    <a:pt x="0" y="990600"/>
                  </a:cubicBezTo>
                  <a:close/>
                </a:path>
              </a:pathLst>
            </a:custGeom>
            <a:solidFill>
              <a:srgbClr val="F2F3F2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7680960" cy="11982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1F497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NETFORECAST</a:t>
              </a:r>
            </a:p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AI World Model for Network Attack Forecasting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74501" y="0"/>
            <a:ext cx="16459200" cy="1714500"/>
            <a:chOff x="0" y="0"/>
            <a:chExt cx="21945600" cy="228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1945600" cy="23050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040"/>
                </a:lnSpc>
              </a:pPr>
              <a:r>
                <a:rPr lang="en-US" sz="42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NETFORECAST — PROPOSED SOLUTION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75612" y="359321"/>
            <a:ext cx="1915887" cy="1249101"/>
            <a:chOff x="0" y="0"/>
            <a:chExt cx="2554516" cy="1665468"/>
          </a:xfrm>
        </p:grpSpPr>
        <p:sp>
          <p:nvSpPr>
            <p:cNvPr id="6" name="Freeform 6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554516" cy="1684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_Celeryy_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762045" y="85649"/>
            <a:ext cx="3313681" cy="1684306"/>
            <a:chOff x="0" y="0"/>
            <a:chExt cx="4418241" cy="2245741"/>
          </a:xfrm>
        </p:grpSpPr>
        <p:sp>
          <p:nvSpPr>
            <p:cNvPr id="9" name="Freeform 9" descr="WhatsApp Image 2026-08-25 at 11.41.35 PM.jpe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70" r="-271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754380" y="1851660"/>
            <a:ext cx="5486400" cy="2948940"/>
            <a:chOff x="0" y="0"/>
            <a:chExt cx="7315200" cy="39319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315200" cy="3931920"/>
            </a:xfrm>
            <a:custGeom>
              <a:avLst/>
              <a:gdLst/>
              <a:ahLst/>
              <a:cxnLst/>
              <a:rect l="l" t="t" r="r" b="b"/>
              <a:pathLst>
                <a:path w="7315200" h="3931920">
                  <a:moveTo>
                    <a:pt x="0" y="655320"/>
                  </a:moveTo>
                  <a:cubicBezTo>
                    <a:pt x="0" y="293370"/>
                    <a:pt x="293370" y="0"/>
                    <a:pt x="655320" y="0"/>
                  </a:cubicBezTo>
                  <a:lnTo>
                    <a:pt x="6659880" y="0"/>
                  </a:lnTo>
                  <a:cubicBezTo>
                    <a:pt x="7021830" y="0"/>
                    <a:pt x="7315200" y="293370"/>
                    <a:pt x="7315200" y="655320"/>
                  </a:cubicBezTo>
                  <a:lnTo>
                    <a:pt x="7315200" y="3276600"/>
                  </a:lnTo>
                  <a:cubicBezTo>
                    <a:pt x="7315200" y="3638550"/>
                    <a:pt x="7021830" y="3931920"/>
                    <a:pt x="6659880" y="3931920"/>
                  </a:cubicBezTo>
                  <a:lnTo>
                    <a:pt x="655320" y="3931920"/>
                  </a:lnTo>
                  <a:cubicBezTo>
                    <a:pt x="293370" y="3931920"/>
                    <a:pt x="0" y="3638550"/>
                    <a:pt x="0" y="32766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7315200" cy="39509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299"/>
                </a:lnSpc>
              </a:pPr>
              <a:r>
                <a:rPr lang="en-US" sz="2749" b="1">
                  <a:solidFill>
                    <a:srgbClr val="1F497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Problem</a:t>
              </a:r>
            </a:p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Conventional IDS models often classify flows independently. This loses the temporal sequence of an intrusion and can raise alerts only after malicious traffic is observed.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240780" y="1837373"/>
            <a:ext cx="5719572" cy="2963228"/>
            <a:chOff x="-310896" y="-19049"/>
            <a:chExt cx="7626096" cy="3950970"/>
          </a:xfrm>
        </p:grpSpPr>
        <p:sp>
          <p:nvSpPr>
            <p:cNvPr id="14" name="Freeform 14"/>
            <p:cNvSpPr/>
            <p:nvPr/>
          </p:nvSpPr>
          <p:spPr>
            <a:xfrm>
              <a:off x="-310896" y="0"/>
              <a:ext cx="7626096" cy="3931919"/>
            </a:xfrm>
            <a:custGeom>
              <a:avLst/>
              <a:gdLst/>
              <a:ahLst/>
              <a:cxnLst/>
              <a:rect l="l" t="t" r="r" b="b"/>
              <a:pathLst>
                <a:path w="7315200" h="3931920">
                  <a:moveTo>
                    <a:pt x="0" y="655320"/>
                  </a:moveTo>
                  <a:cubicBezTo>
                    <a:pt x="0" y="293370"/>
                    <a:pt x="293370" y="0"/>
                    <a:pt x="655320" y="0"/>
                  </a:cubicBezTo>
                  <a:lnTo>
                    <a:pt x="6659880" y="0"/>
                  </a:lnTo>
                  <a:cubicBezTo>
                    <a:pt x="7021830" y="0"/>
                    <a:pt x="7315200" y="293370"/>
                    <a:pt x="7315200" y="655320"/>
                  </a:cubicBezTo>
                  <a:lnTo>
                    <a:pt x="7315200" y="3276600"/>
                  </a:lnTo>
                  <a:cubicBezTo>
                    <a:pt x="7315200" y="3638550"/>
                    <a:pt x="7021830" y="3931920"/>
                    <a:pt x="6659880" y="3931920"/>
                  </a:cubicBezTo>
                  <a:lnTo>
                    <a:pt x="655320" y="3931920"/>
                  </a:lnTo>
                  <a:cubicBezTo>
                    <a:pt x="293370" y="3931920"/>
                    <a:pt x="0" y="3638550"/>
                    <a:pt x="0" y="3276600"/>
                  </a:cubicBezTo>
                  <a:close/>
                </a:path>
              </a:pathLst>
            </a:custGeom>
            <a:solidFill>
              <a:srgbClr val="F2F3F2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19049"/>
              <a:ext cx="7315200" cy="39509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299"/>
                </a:lnSpc>
              </a:pPr>
              <a:r>
                <a:rPr lang="en-US" sz="2749" b="1" dirty="0" err="1">
                  <a:solidFill>
                    <a:srgbClr val="1F497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NetForecast</a:t>
              </a:r>
              <a:endParaRPr lang="en-US" sz="2749" b="1" dirty="0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  <a:p>
              <a:pPr algn="l">
                <a:lnSpc>
                  <a:spcPts val="2759"/>
                </a:lnSpc>
              </a:pPr>
              <a:r>
                <a:rPr lang="en-US" sz="2299" dirty="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Learns network-state transition dynamics P(Sₜ₊₁ | Sₜ) and performs a K-step forward rollout to forecast infiltration risk before the next attack stage is observed.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207240" y="1851660"/>
            <a:ext cx="5280660" cy="2948940"/>
            <a:chOff x="0" y="0"/>
            <a:chExt cx="7040880" cy="39319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040880" cy="3931920"/>
            </a:xfrm>
            <a:custGeom>
              <a:avLst/>
              <a:gdLst/>
              <a:ahLst/>
              <a:cxnLst/>
              <a:rect l="l" t="t" r="r" b="b"/>
              <a:pathLst>
                <a:path w="7040880" h="3931920">
                  <a:moveTo>
                    <a:pt x="0" y="655320"/>
                  </a:moveTo>
                  <a:cubicBezTo>
                    <a:pt x="0" y="293370"/>
                    <a:pt x="293370" y="0"/>
                    <a:pt x="655320" y="0"/>
                  </a:cubicBezTo>
                  <a:lnTo>
                    <a:pt x="6385560" y="0"/>
                  </a:lnTo>
                  <a:cubicBezTo>
                    <a:pt x="6747510" y="0"/>
                    <a:pt x="7040880" y="293370"/>
                    <a:pt x="7040880" y="655320"/>
                  </a:cubicBezTo>
                  <a:lnTo>
                    <a:pt x="7040880" y="3276600"/>
                  </a:lnTo>
                  <a:cubicBezTo>
                    <a:pt x="7040880" y="3638550"/>
                    <a:pt x="6747510" y="3931920"/>
                    <a:pt x="6385560" y="3931920"/>
                  </a:cubicBezTo>
                  <a:lnTo>
                    <a:pt x="655320" y="3931920"/>
                  </a:lnTo>
                  <a:cubicBezTo>
                    <a:pt x="293370" y="3931920"/>
                    <a:pt x="0" y="3638550"/>
                    <a:pt x="0" y="32766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7040880" cy="39509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299"/>
                </a:lnSpc>
              </a:pPr>
              <a:r>
                <a:rPr lang="en-US" sz="2749" b="1">
                  <a:solidFill>
                    <a:srgbClr val="1F497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Why it is different</a:t>
              </a:r>
            </a:p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World model + temporal memory + ATTACK stage forecast + explanations. The model simulates the likely trajectory instead of only assigning a label to the current flow.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274501" y="5216033"/>
            <a:ext cx="16404336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9"/>
              </a:lnSpc>
            </a:pPr>
            <a:r>
              <a:rPr lang="en-US" sz="2149" b="1">
                <a:solidFill>
                  <a:srgbClr val="C0392B"/>
                </a:solidFill>
                <a:latin typeface="Arial Bold"/>
                <a:ea typeface="Arial Bold"/>
                <a:cs typeface="Arial Bold"/>
                <a:sym typeface="Arial Bold"/>
              </a:rPr>
              <a:t>REACTIVE IDS  →  observes first, alerts later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727129" y="5815346"/>
            <a:ext cx="1851660" cy="754380"/>
            <a:chOff x="0" y="0"/>
            <a:chExt cx="2468880" cy="100584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468880" cy="1005840"/>
            </a:xfrm>
            <a:custGeom>
              <a:avLst/>
              <a:gdLst/>
              <a:ahLst/>
              <a:cxnLst/>
              <a:rect l="l" t="t" r="r" b="b"/>
              <a:pathLst>
                <a:path w="2468880" h="1005840">
                  <a:moveTo>
                    <a:pt x="0" y="167640"/>
                  </a:moveTo>
                  <a:cubicBezTo>
                    <a:pt x="0" y="75057"/>
                    <a:pt x="75057" y="0"/>
                    <a:pt x="167640" y="0"/>
                  </a:cubicBezTo>
                  <a:lnTo>
                    <a:pt x="2301240" y="0"/>
                  </a:lnTo>
                  <a:cubicBezTo>
                    <a:pt x="2393823" y="0"/>
                    <a:pt x="2468880" y="75057"/>
                    <a:pt x="2468880" y="167640"/>
                  </a:cubicBezTo>
                  <a:lnTo>
                    <a:pt x="2468880" y="838200"/>
                  </a:lnTo>
                  <a:cubicBezTo>
                    <a:pt x="2468880" y="930783"/>
                    <a:pt x="2393823" y="1005840"/>
                    <a:pt x="2301240" y="1005840"/>
                  </a:cubicBezTo>
                  <a:lnTo>
                    <a:pt x="167640" y="1005840"/>
                  </a:lnTo>
                  <a:cubicBezTo>
                    <a:pt x="75057" y="1005840"/>
                    <a:pt x="0" y="930783"/>
                    <a:pt x="0" y="838200"/>
                  </a:cubicBezTo>
                  <a:close/>
                </a:path>
              </a:pathLst>
            </a:custGeom>
            <a:solidFill>
              <a:srgbClr val="FCE4E1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2468880" cy="10344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19"/>
                </a:lnSpc>
              </a:pPr>
              <a:r>
                <a:rPr lang="en-US" sz="1849" b="1">
                  <a:solidFill>
                    <a:srgbClr val="C039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Scan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744649" y="5815346"/>
            <a:ext cx="1851660" cy="754380"/>
            <a:chOff x="0" y="0"/>
            <a:chExt cx="2468880" cy="100584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468880" cy="1005840"/>
            </a:xfrm>
            <a:custGeom>
              <a:avLst/>
              <a:gdLst/>
              <a:ahLst/>
              <a:cxnLst/>
              <a:rect l="l" t="t" r="r" b="b"/>
              <a:pathLst>
                <a:path w="2468880" h="1005840">
                  <a:moveTo>
                    <a:pt x="0" y="167640"/>
                  </a:moveTo>
                  <a:cubicBezTo>
                    <a:pt x="0" y="75057"/>
                    <a:pt x="75057" y="0"/>
                    <a:pt x="167640" y="0"/>
                  </a:cubicBezTo>
                  <a:lnTo>
                    <a:pt x="2301240" y="0"/>
                  </a:lnTo>
                  <a:cubicBezTo>
                    <a:pt x="2393823" y="0"/>
                    <a:pt x="2468880" y="75057"/>
                    <a:pt x="2468880" y="167640"/>
                  </a:cubicBezTo>
                  <a:lnTo>
                    <a:pt x="2468880" y="838200"/>
                  </a:lnTo>
                  <a:cubicBezTo>
                    <a:pt x="2468880" y="930783"/>
                    <a:pt x="2393823" y="1005840"/>
                    <a:pt x="2301240" y="1005840"/>
                  </a:cubicBezTo>
                  <a:lnTo>
                    <a:pt x="167640" y="1005840"/>
                  </a:lnTo>
                  <a:cubicBezTo>
                    <a:pt x="75057" y="1005840"/>
                    <a:pt x="0" y="930783"/>
                    <a:pt x="0" y="838200"/>
                  </a:cubicBezTo>
                  <a:close/>
                </a:path>
              </a:pathLst>
            </a:custGeom>
            <a:solidFill>
              <a:srgbClr val="FCE4E1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2468880" cy="10344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19"/>
                </a:lnSpc>
              </a:pPr>
              <a:r>
                <a:rPr lang="en-US" sz="1849" b="1">
                  <a:solidFill>
                    <a:srgbClr val="C039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Exploit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762169" y="5815346"/>
            <a:ext cx="1851660" cy="754380"/>
            <a:chOff x="0" y="0"/>
            <a:chExt cx="2468880" cy="100584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468880" cy="1005840"/>
            </a:xfrm>
            <a:custGeom>
              <a:avLst/>
              <a:gdLst/>
              <a:ahLst/>
              <a:cxnLst/>
              <a:rect l="l" t="t" r="r" b="b"/>
              <a:pathLst>
                <a:path w="2468880" h="1005840">
                  <a:moveTo>
                    <a:pt x="0" y="167640"/>
                  </a:moveTo>
                  <a:cubicBezTo>
                    <a:pt x="0" y="75057"/>
                    <a:pt x="75057" y="0"/>
                    <a:pt x="167640" y="0"/>
                  </a:cubicBezTo>
                  <a:lnTo>
                    <a:pt x="2301240" y="0"/>
                  </a:lnTo>
                  <a:cubicBezTo>
                    <a:pt x="2393823" y="0"/>
                    <a:pt x="2468880" y="75057"/>
                    <a:pt x="2468880" y="167640"/>
                  </a:cubicBezTo>
                  <a:lnTo>
                    <a:pt x="2468880" y="838200"/>
                  </a:lnTo>
                  <a:cubicBezTo>
                    <a:pt x="2468880" y="930783"/>
                    <a:pt x="2393823" y="1005840"/>
                    <a:pt x="2301240" y="1005840"/>
                  </a:cubicBezTo>
                  <a:lnTo>
                    <a:pt x="167640" y="1005840"/>
                  </a:lnTo>
                  <a:cubicBezTo>
                    <a:pt x="75057" y="1005840"/>
                    <a:pt x="0" y="930783"/>
                    <a:pt x="0" y="838200"/>
                  </a:cubicBezTo>
                  <a:close/>
                </a:path>
              </a:pathLst>
            </a:custGeom>
            <a:solidFill>
              <a:srgbClr val="FCE4E1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2468880" cy="10344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19"/>
                </a:lnSpc>
              </a:pPr>
              <a:r>
                <a:rPr lang="en-US" sz="1849" b="1">
                  <a:solidFill>
                    <a:srgbClr val="C039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Lateral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9689" y="5815346"/>
            <a:ext cx="1851660" cy="754380"/>
            <a:chOff x="0" y="0"/>
            <a:chExt cx="2468880" cy="100584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468880" cy="1005840"/>
            </a:xfrm>
            <a:custGeom>
              <a:avLst/>
              <a:gdLst/>
              <a:ahLst/>
              <a:cxnLst/>
              <a:rect l="l" t="t" r="r" b="b"/>
              <a:pathLst>
                <a:path w="2468880" h="1005840">
                  <a:moveTo>
                    <a:pt x="0" y="167640"/>
                  </a:moveTo>
                  <a:cubicBezTo>
                    <a:pt x="0" y="75057"/>
                    <a:pt x="75057" y="0"/>
                    <a:pt x="167640" y="0"/>
                  </a:cubicBezTo>
                  <a:lnTo>
                    <a:pt x="2301240" y="0"/>
                  </a:lnTo>
                  <a:cubicBezTo>
                    <a:pt x="2393823" y="0"/>
                    <a:pt x="2468880" y="75057"/>
                    <a:pt x="2468880" y="167640"/>
                  </a:cubicBezTo>
                  <a:lnTo>
                    <a:pt x="2468880" y="838200"/>
                  </a:lnTo>
                  <a:cubicBezTo>
                    <a:pt x="2468880" y="930783"/>
                    <a:pt x="2393823" y="1005840"/>
                    <a:pt x="2301240" y="1005840"/>
                  </a:cubicBezTo>
                  <a:lnTo>
                    <a:pt x="167640" y="1005840"/>
                  </a:lnTo>
                  <a:cubicBezTo>
                    <a:pt x="75057" y="1005840"/>
                    <a:pt x="0" y="930783"/>
                    <a:pt x="0" y="838200"/>
                  </a:cubicBezTo>
                  <a:close/>
                </a:path>
              </a:pathLst>
            </a:custGeom>
            <a:solidFill>
              <a:srgbClr val="FCE4E1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28575"/>
              <a:ext cx="2468880" cy="10344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19"/>
                </a:lnSpc>
              </a:pPr>
              <a:r>
                <a:rPr lang="en-US" sz="1849" b="1">
                  <a:solidFill>
                    <a:srgbClr val="C039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C2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797209" y="5815346"/>
            <a:ext cx="1851660" cy="754380"/>
            <a:chOff x="0" y="0"/>
            <a:chExt cx="2468880" cy="100584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468880" cy="1005840"/>
            </a:xfrm>
            <a:custGeom>
              <a:avLst/>
              <a:gdLst/>
              <a:ahLst/>
              <a:cxnLst/>
              <a:rect l="l" t="t" r="r" b="b"/>
              <a:pathLst>
                <a:path w="2468880" h="1005840">
                  <a:moveTo>
                    <a:pt x="0" y="167640"/>
                  </a:moveTo>
                  <a:cubicBezTo>
                    <a:pt x="0" y="75057"/>
                    <a:pt x="75057" y="0"/>
                    <a:pt x="167640" y="0"/>
                  </a:cubicBezTo>
                  <a:lnTo>
                    <a:pt x="2301240" y="0"/>
                  </a:lnTo>
                  <a:cubicBezTo>
                    <a:pt x="2393823" y="0"/>
                    <a:pt x="2468880" y="75057"/>
                    <a:pt x="2468880" y="167640"/>
                  </a:cubicBezTo>
                  <a:lnTo>
                    <a:pt x="2468880" y="838200"/>
                  </a:lnTo>
                  <a:cubicBezTo>
                    <a:pt x="2468880" y="930783"/>
                    <a:pt x="2393823" y="1005840"/>
                    <a:pt x="2301240" y="1005840"/>
                  </a:cubicBezTo>
                  <a:lnTo>
                    <a:pt x="167640" y="1005840"/>
                  </a:lnTo>
                  <a:cubicBezTo>
                    <a:pt x="75057" y="1005840"/>
                    <a:pt x="0" y="930783"/>
                    <a:pt x="0" y="838200"/>
                  </a:cubicBezTo>
                  <a:close/>
                </a:path>
              </a:pathLst>
            </a:custGeom>
            <a:solidFill>
              <a:srgbClr val="FCE4E1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28575"/>
              <a:ext cx="2468880" cy="10344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19"/>
                </a:lnSpc>
              </a:pPr>
              <a:r>
                <a:rPr lang="en-US" sz="1849" b="1">
                  <a:solidFill>
                    <a:srgbClr val="C039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Exfil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5814729" y="5815346"/>
            <a:ext cx="1851660" cy="754380"/>
            <a:chOff x="0" y="0"/>
            <a:chExt cx="2468880" cy="100584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468880" cy="1005840"/>
            </a:xfrm>
            <a:custGeom>
              <a:avLst/>
              <a:gdLst/>
              <a:ahLst/>
              <a:cxnLst/>
              <a:rect l="l" t="t" r="r" b="b"/>
              <a:pathLst>
                <a:path w="2468880" h="1005840">
                  <a:moveTo>
                    <a:pt x="0" y="167640"/>
                  </a:moveTo>
                  <a:cubicBezTo>
                    <a:pt x="0" y="75057"/>
                    <a:pt x="75057" y="0"/>
                    <a:pt x="167640" y="0"/>
                  </a:cubicBezTo>
                  <a:lnTo>
                    <a:pt x="2301240" y="0"/>
                  </a:lnTo>
                  <a:cubicBezTo>
                    <a:pt x="2393823" y="0"/>
                    <a:pt x="2468880" y="75057"/>
                    <a:pt x="2468880" y="167640"/>
                  </a:cubicBezTo>
                  <a:lnTo>
                    <a:pt x="2468880" y="838200"/>
                  </a:lnTo>
                  <a:cubicBezTo>
                    <a:pt x="2468880" y="930783"/>
                    <a:pt x="2393823" y="1005840"/>
                    <a:pt x="2301240" y="1005840"/>
                  </a:cubicBezTo>
                  <a:lnTo>
                    <a:pt x="167640" y="1005840"/>
                  </a:lnTo>
                  <a:cubicBezTo>
                    <a:pt x="75057" y="1005840"/>
                    <a:pt x="0" y="930783"/>
                    <a:pt x="0" y="838200"/>
                  </a:cubicBezTo>
                  <a:close/>
                </a:path>
              </a:pathLst>
            </a:custGeom>
            <a:solidFill>
              <a:srgbClr val="FCE4E1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28575"/>
              <a:ext cx="2468880" cy="10344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19"/>
                </a:lnSpc>
              </a:pPr>
              <a:r>
                <a:rPr lang="en-US" sz="1849" b="1">
                  <a:solidFill>
                    <a:srgbClr val="C039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ALERT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274501" y="6930533"/>
            <a:ext cx="16404336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9"/>
              </a:lnSpc>
            </a:pPr>
            <a:r>
              <a:rPr lang="en-US" sz="2149" b="1">
                <a:solidFill>
                  <a:srgbClr val="2E8B3E"/>
                </a:solidFill>
                <a:latin typeface="Arial Bold"/>
                <a:ea typeface="Arial Bold"/>
                <a:cs typeface="Arial Bold"/>
                <a:sym typeface="Arial Bold"/>
              </a:rPr>
              <a:t>NETFORECAST  →  predicts the trajectory while it unfolds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727129" y="7529846"/>
            <a:ext cx="1851660" cy="754380"/>
            <a:chOff x="0" y="0"/>
            <a:chExt cx="2468880" cy="100584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468880" cy="1005840"/>
            </a:xfrm>
            <a:custGeom>
              <a:avLst/>
              <a:gdLst/>
              <a:ahLst/>
              <a:cxnLst/>
              <a:rect l="l" t="t" r="r" b="b"/>
              <a:pathLst>
                <a:path w="2468880" h="1005840">
                  <a:moveTo>
                    <a:pt x="0" y="167640"/>
                  </a:moveTo>
                  <a:cubicBezTo>
                    <a:pt x="0" y="75057"/>
                    <a:pt x="75057" y="0"/>
                    <a:pt x="167640" y="0"/>
                  </a:cubicBezTo>
                  <a:lnTo>
                    <a:pt x="2301240" y="0"/>
                  </a:lnTo>
                  <a:cubicBezTo>
                    <a:pt x="2393823" y="0"/>
                    <a:pt x="2468880" y="75057"/>
                    <a:pt x="2468880" y="167640"/>
                  </a:cubicBezTo>
                  <a:lnTo>
                    <a:pt x="2468880" y="838200"/>
                  </a:lnTo>
                  <a:cubicBezTo>
                    <a:pt x="2468880" y="930783"/>
                    <a:pt x="2393823" y="1005840"/>
                    <a:pt x="2301240" y="1005840"/>
                  </a:cubicBezTo>
                  <a:lnTo>
                    <a:pt x="167640" y="1005840"/>
                  </a:lnTo>
                  <a:cubicBezTo>
                    <a:pt x="75057" y="1005840"/>
                    <a:pt x="0" y="930783"/>
                    <a:pt x="0" y="838200"/>
                  </a:cubicBezTo>
                  <a:close/>
                </a:path>
              </a:pathLst>
            </a:custGeom>
            <a:solidFill>
              <a:srgbClr val="E2F0D9"/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0" y="-19050"/>
              <a:ext cx="2468880" cy="10248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9"/>
                </a:lnSpc>
              </a:pPr>
              <a:r>
                <a:rPr lang="en-US" sz="1774" b="1">
                  <a:solidFill>
                    <a:srgbClr val="2E8B3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Observed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3744649" y="7529846"/>
            <a:ext cx="1851660" cy="754380"/>
            <a:chOff x="0" y="0"/>
            <a:chExt cx="2468880" cy="100584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468880" cy="1005840"/>
            </a:xfrm>
            <a:custGeom>
              <a:avLst/>
              <a:gdLst/>
              <a:ahLst/>
              <a:cxnLst/>
              <a:rect l="l" t="t" r="r" b="b"/>
              <a:pathLst>
                <a:path w="2468880" h="1005840">
                  <a:moveTo>
                    <a:pt x="0" y="167640"/>
                  </a:moveTo>
                  <a:cubicBezTo>
                    <a:pt x="0" y="75057"/>
                    <a:pt x="75057" y="0"/>
                    <a:pt x="167640" y="0"/>
                  </a:cubicBezTo>
                  <a:lnTo>
                    <a:pt x="2301240" y="0"/>
                  </a:lnTo>
                  <a:cubicBezTo>
                    <a:pt x="2393823" y="0"/>
                    <a:pt x="2468880" y="75057"/>
                    <a:pt x="2468880" y="167640"/>
                  </a:cubicBezTo>
                  <a:lnTo>
                    <a:pt x="2468880" y="838200"/>
                  </a:lnTo>
                  <a:cubicBezTo>
                    <a:pt x="2468880" y="930783"/>
                    <a:pt x="2393823" y="1005840"/>
                    <a:pt x="2301240" y="1005840"/>
                  </a:cubicBezTo>
                  <a:lnTo>
                    <a:pt x="167640" y="1005840"/>
                  </a:lnTo>
                  <a:cubicBezTo>
                    <a:pt x="75057" y="1005840"/>
                    <a:pt x="0" y="930783"/>
                    <a:pt x="0" y="838200"/>
                  </a:cubicBezTo>
                  <a:close/>
                </a:path>
              </a:pathLst>
            </a:custGeom>
            <a:solidFill>
              <a:srgbClr val="E2F0D9"/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0" y="-19050"/>
              <a:ext cx="2468880" cy="10248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9"/>
                </a:lnSpc>
              </a:pPr>
              <a:r>
                <a:rPr lang="en-US" sz="1774" b="1">
                  <a:solidFill>
                    <a:srgbClr val="2E8B3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Context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762169" y="7529846"/>
            <a:ext cx="1851660" cy="754380"/>
            <a:chOff x="0" y="0"/>
            <a:chExt cx="2468880" cy="100584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468880" cy="1005840"/>
            </a:xfrm>
            <a:custGeom>
              <a:avLst/>
              <a:gdLst/>
              <a:ahLst/>
              <a:cxnLst/>
              <a:rect l="l" t="t" r="r" b="b"/>
              <a:pathLst>
                <a:path w="2468880" h="1005840">
                  <a:moveTo>
                    <a:pt x="0" y="167640"/>
                  </a:moveTo>
                  <a:cubicBezTo>
                    <a:pt x="0" y="75057"/>
                    <a:pt x="75057" y="0"/>
                    <a:pt x="167640" y="0"/>
                  </a:cubicBezTo>
                  <a:lnTo>
                    <a:pt x="2301240" y="0"/>
                  </a:lnTo>
                  <a:cubicBezTo>
                    <a:pt x="2393823" y="0"/>
                    <a:pt x="2468880" y="75057"/>
                    <a:pt x="2468880" y="167640"/>
                  </a:cubicBezTo>
                  <a:lnTo>
                    <a:pt x="2468880" y="838200"/>
                  </a:lnTo>
                  <a:cubicBezTo>
                    <a:pt x="2468880" y="930783"/>
                    <a:pt x="2393823" y="1005840"/>
                    <a:pt x="2301240" y="1005840"/>
                  </a:cubicBezTo>
                  <a:lnTo>
                    <a:pt x="167640" y="1005840"/>
                  </a:lnTo>
                  <a:cubicBezTo>
                    <a:pt x="75057" y="1005840"/>
                    <a:pt x="0" y="930783"/>
                    <a:pt x="0" y="838200"/>
                  </a:cubicBezTo>
                  <a:close/>
                </a:path>
              </a:pathLst>
            </a:custGeom>
            <a:solidFill>
              <a:srgbClr val="E2F0D9"/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0" y="-19050"/>
              <a:ext cx="2468880" cy="10248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9"/>
                </a:lnSpc>
              </a:pPr>
              <a:r>
                <a:rPr lang="en-US" sz="1774" b="1">
                  <a:solidFill>
                    <a:srgbClr val="2E8B3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Forecast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9779689" y="7529846"/>
            <a:ext cx="1851660" cy="754380"/>
            <a:chOff x="0" y="0"/>
            <a:chExt cx="2468880" cy="100584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468880" cy="1005840"/>
            </a:xfrm>
            <a:custGeom>
              <a:avLst/>
              <a:gdLst/>
              <a:ahLst/>
              <a:cxnLst/>
              <a:rect l="l" t="t" r="r" b="b"/>
              <a:pathLst>
                <a:path w="2468880" h="1005840">
                  <a:moveTo>
                    <a:pt x="0" y="167640"/>
                  </a:moveTo>
                  <a:cubicBezTo>
                    <a:pt x="0" y="75057"/>
                    <a:pt x="75057" y="0"/>
                    <a:pt x="167640" y="0"/>
                  </a:cubicBezTo>
                  <a:lnTo>
                    <a:pt x="2301240" y="0"/>
                  </a:lnTo>
                  <a:cubicBezTo>
                    <a:pt x="2393823" y="0"/>
                    <a:pt x="2468880" y="75057"/>
                    <a:pt x="2468880" y="167640"/>
                  </a:cubicBezTo>
                  <a:lnTo>
                    <a:pt x="2468880" y="838200"/>
                  </a:lnTo>
                  <a:cubicBezTo>
                    <a:pt x="2468880" y="930783"/>
                    <a:pt x="2393823" y="1005840"/>
                    <a:pt x="2301240" y="1005840"/>
                  </a:cubicBezTo>
                  <a:lnTo>
                    <a:pt x="167640" y="1005840"/>
                  </a:lnTo>
                  <a:cubicBezTo>
                    <a:pt x="75057" y="1005840"/>
                    <a:pt x="0" y="930783"/>
                    <a:pt x="0" y="838200"/>
                  </a:cubicBezTo>
                  <a:close/>
                </a:path>
              </a:pathLst>
            </a:custGeom>
            <a:solidFill>
              <a:srgbClr val="E2F0D9"/>
            </a:solidFill>
          </p:spPr>
        </p:sp>
        <p:sp>
          <p:nvSpPr>
            <p:cNvPr id="50" name="TextBox 50"/>
            <p:cNvSpPr txBox="1"/>
            <p:nvPr/>
          </p:nvSpPr>
          <p:spPr>
            <a:xfrm>
              <a:off x="0" y="-19050"/>
              <a:ext cx="2468880" cy="10248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9"/>
                </a:lnSpc>
              </a:pPr>
              <a:r>
                <a:rPr lang="en-US" sz="1774" b="1">
                  <a:solidFill>
                    <a:srgbClr val="2E8B3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ATTACK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2797209" y="7529846"/>
            <a:ext cx="1851660" cy="754380"/>
            <a:chOff x="0" y="0"/>
            <a:chExt cx="2468880" cy="100584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2468880" cy="1005840"/>
            </a:xfrm>
            <a:custGeom>
              <a:avLst/>
              <a:gdLst/>
              <a:ahLst/>
              <a:cxnLst/>
              <a:rect l="l" t="t" r="r" b="b"/>
              <a:pathLst>
                <a:path w="2468880" h="1005840">
                  <a:moveTo>
                    <a:pt x="0" y="167640"/>
                  </a:moveTo>
                  <a:cubicBezTo>
                    <a:pt x="0" y="75057"/>
                    <a:pt x="75057" y="0"/>
                    <a:pt x="167640" y="0"/>
                  </a:cubicBezTo>
                  <a:lnTo>
                    <a:pt x="2301240" y="0"/>
                  </a:lnTo>
                  <a:cubicBezTo>
                    <a:pt x="2393823" y="0"/>
                    <a:pt x="2468880" y="75057"/>
                    <a:pt x="2468880" y="167640"/>
                  </a:cubicBezTo>
                  <a:lnTo>
                    <a:pt x="2468880" y="838200"/>
                  </a:lnTo>
                  <a:cubicBezTo>
                    <a:pt x="2468880" y="930783"/>
                    <a:pt x="2393823" y="1005840"/>
                    <a:pt x="2301240" y="1005840"/>
                  </a:cubicBezTo>
                  <a:lnTo>
                    <a:pt x="167640" y="1005840"/>
                  </a:lnTo>
                  <a:cubicBezTo>
                    <a:pt x="75057" y="1005840"/>
                    <a:pt x="0" y="930783"/>
                    <a:pt x="0" y="838200"/>
                  </a:cubicBezTo>
                  <a:close/>
                </a:path>
              </a:pathLst>
            </a:custGeom>
            <a:solidFill>
              <a:srgbClr val="E2F0D9"/>
            </a:solidFill>
          </p:spPr>
        </p:sp>
        <p:sp>
          <p:nvSpPr>
            <p:cNvPr id="53" name="TextBox 53"/>
            <p:cNvSpPr txBox="1"/>
            <p:nvPr/>
          </p:nvSpPr>
          <p:spPr>
            <a:xfrm>
              <a:off x="0" y="-19050"/>
              <a:ext cx="2468880" cy="10248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9"/>
                </a:lnSpc>
              </a:pPr>
              <a:r>
                <a:rPr lang="en-US" sz="1774" b="1">
                  <a:solidFill>
                    <a:srgbClr val="2E8B3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Risk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5814729" y="7529846"/>
            <a:ext cx="1851660" cy="754380"/>
            <a:chOff x="0" y="0"/>
            <a:chExt cx="2468880" cy="100584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2468880" cy="1005840"/>
            </a:xfrm>
            <a:custGeom>
              <a:avLst/>
              <a:gdLst/>
              <a:ahLst/>
              <a:cxnLst/>
              <a:rect l="l" t="t" r="r" b="b"/>
              <a:pathLst>
                <a:path w="2468880" h="1005840">
                  <a:moveTo>
                    <a:pt x="0" y="167640"/>
                  </a:moveTo>
                  <a:cubicBezTo>
                    <a:pt x="0" y="75057"/>
                    <a:pt x="75057" y="0"/>
                    <a:pt x="167640" y="0"/>
                  </a:cubicBezTo>
                  <a:lnTo>
                    <a:pt x="2301240" y="0"/>
                  </a:lnTo>
                  <a:cubicBezTo>
                    <a:pt x="2393823" y="0"/>
                    <a:pt x="2468880" y="75057"/>
                    <a:pt x="2468880" y="167640"/>
                  </a:cubicBezTo>
                  <a:lnTo>
                    <a:pt x="2468880" y="838200"/>
                  </a:lnTo>
                  <a:cubicBezTo>
                    <a:pt x="2468880" y="930783"/>
                    <a:pt x="2393823" y="1005840"/>
                    <a:pt x="2301240" y="1005840"/>
                  </a:cubicBezTo>
                  <a:lnTo>
                    <a:pt x="167640" y="1005840"/>
                  </a:lnTo>
                  <a:cubicBezTo>
                    <a:pt x="75057" y="1005840"/>
                    <a:pt x="0" y="930783"/>
                    <a:pt x="0" y="838200"/>
                  </a:cubicBezTo>
                  <a:close/>
                </a:path>
              </a:pathLst>
            </a:custGeom>
            <a:solidFill>
              <a:srgbClr val="E2F0D9"/>
            </a:solidFill>
          </p:spPr>
        </p:sp>
        <p:sp>
          <p:nvSpPr>
            <p:cNvPr id="56" name="TextBox 56"/>
            <p:cNvSpPr txBox="1"/>
            <p:nvPr/>
          </p:nvSpPr>
          <p:spPr>
            <a:xfrm>
              <a:off x="0" y="-19050"/>
              <a:ext cx="2468880" cy="10248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9"/>
                </a:lnSpc>
              </a:pPr>
              <a:r>
                <a:rPr lang="en-US" sz="1774" b="1">
                  <a:solidFill>
                    <a:srgbClr val="2E8B3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EARLY WARNING</a:t>
              </a: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336223" y="9246251"/>
            <a:ext cx="16404336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sz="19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Innovation: a learned simulator of network evolution, not a per-flow classifier.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1945600" cy="23050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040"/>
                </a:lnSpc>
              </a:pPr>
              <a:r>
                <a:rPr lang="en-US" sz="42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75612" y="359321"/>
            <a:ext cx="1915887" cy="1249099"/>
            <a:chOff x="0" y="0"/>
            <a:chExt cx="2554516" cy="1665465"/>
          </a:xfrm>
        </p:grpSpPr>
        <p:sp>
          <p:nvSpPr>
            <p:cNvPr id="6" name="Freeform 6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1F497D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554516" cy="16845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KHUSHAL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762045" y="85649"/>
            <a:ext cx="3313681" cy="1684306"/>
            <a:chOff x="0" y="0"/>
            <a:chExt cx="4418241" cy="2245741"/>
          </a:xfrm>
        </p:grpSpPr>
        <p:sp>
          <p:nvSpPr>
            <p:cNvPr id="9" name="Freeform 9" descr="WhatsApp Image 2026-08-25 at 11.41.35 PM.jpe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70" r="-271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781812" y="1681734"/>
            <a:ext cx="2413754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Technology stack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81812" y="3135154"/>
            <a:ext cx="3380899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End-to-end methodology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475612" y="3771424"/>
            <a:ext cx="3086100" cy="1645920"/>
            <a:chOff x="0" y="0"/>
            <a:chExt cx="4114800" cy="21945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114800" cy="2194560"/>
            </a:xfrm>
            <a:custGeom>
              <a:avLst/>
              <a:gdLst/>
              <a:ahLst/>
              <a:cxnLst/>
              <a:rect l="l" t="t" r="r" b="b"/>
              <a:pathLst>
                <a:path w="4114800" h="219456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3749040" y="0"/>
                  </a:lnTo>
                  <a:cubicBezTo>
                    <a:pt x="3951097" y="0"/>
                    <a:pt x="4114800" y="163703"/>
                    <a:pt x="4114800" y="365760"/>
                  </a:cubicBezTo>
                  <a:lnTo>
                    <a:pt x="4114800" y="1828800"/>
                  </a:lnTo>
                  <a:cubicBezTo>
                    <a:pt x="4114800" y="2030857"/>
                    <a:pt x="3951097" y="2194560"/>
                    <a:pt x="3749040" y="2194560"/>
                  </a:cubicBezTo>
                  <a:lnTo>
                    <a:pt x="365760" y="2194560"/>
                  </a:lnTo>
                  <a:cubicBezTo>
                    <a:pt x="163703" y="2194560"/>
                    <a:pt x="0" y="2030857"/>
                    <a:pt x="0" y="1828800"/>
                  </a:cubicBezTo>
                  <a:close/>
                </a:path>
              </a:pathLst>
            </a:custGeom>
            <a:solidFill>
              <a:srgbClr val="F2F3F2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4114800" cy="22136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Traffic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CSV / PCAP flow records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680522" y="4251484"/>
            <a:ext cx="411480" cy="480060"/>
            <a:chOff x="0" y="0"/>
            <a:chExt cx="548640" cy="64008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48640" cy="640080"/>
            </a:xfrm>
            <a:custGeom>
              <a:avLst/>
              <a:gdLst/>
              <a:ahLst/>
              <a:cxnLst/>
              <a:rect l="l" t="t" r="r" b="b"/>
              <a:pathLst>
                <a:path w="548640" h="640080">
                  <a:moveTo>
                    <a:pt x="0" y="160020"/>
                  </a:moveTo>
                  <a:lnTo>
                    <a:pt x="274320" y="160020"/>
                  </a:lnTo>
                  <a:lnTo>
                    <a:pt x="274320" y="0"/>
                  </a:lnTo>
                  <a:lnTo>
                    <a:pt x="548640" y="320040"/>
                  </a:lnTo>
                  <a:lnTo>
                    <a:pt x="274320" y="640080"/>
                  </a:lnTo>
                  <a:lnTo>
                    <a:pt x="274320" y="480060"/>
                  </a:lnTo>
                  <a:lnTo>
                    <a:pt x="0" y="480060"/>
                  </a:lnTo>
                  <a:close/>
                </a:path>
              </a:pathLst>
            </a:custGeom>
            <a:solidFill>
              <a:srgbClr val="808080">
                <a:alpha val="50196"/>
              </a:srgbClr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4128516" y="3771424"/>
            <a:ext cx="3086100" cy="1645920"/>
            <a:chOff x="0" y="0"/>
            <a:chExt cx="4114800" cy="219456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114800" cy="2194560"/>
            </a:xfrm>
            <a:custGeom>
              <a:avLst/>
              <a:gdLst/>
              <a:ahLst/>
              <a:cxnLst/>
              <a:rect l="l" t="t" r="r" b="b"/>
              <a:pathLst>
                <a:path w="4114800" h="219456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3749040" y="0"/>
                  </a:lnTo>
                  <a:cubicBezTo>
                    <a:pt x="3951097" y="0"/>
                    <a:pt x="4114800" y="163703"/>
                    <a:pt x="4114800" y="365760"/>
                  </a:cubicBezTo>
                  <a:lnTo>
                    <a:pt x="4114800" y="1828800"/>
                  </a:lnTo>
                  <a:cubicBezTo>
                    <a:pt x="4114800" y="2030857"/>
                    <a:pt x="3951097" y="2194560"/>
                    <a:pt x="3749040" y="2194560"/>
                  </a:cubicBezTo>
                  <a:lnTo>
                    <a:pt x="365760" y="2194560"/>
                  </a:lnTo>
                  <a:cubicBezTo>
                    <a:pt x="163703" y="2194560"/>
                    <a:pt x="0" y="2030857"/>
                    <a:pt x="0" y="1828800"/>
                  </a:cubicBezTo>
                  <a:close/>
                </a:path>
              </a:pathLst>
            </a:custGeom>
            <a:solidFill>
              <a:srgbClr val="F2F3F2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4114800" cy="22136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State Builder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30 s windows → Sₜ ∈ R³³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290054" y="4251484"/>
            <a:ext cx="411480" cy="480060"/>
            <a:chOff x="0" y="0"/>
            <a:chExt cx="548640" cy="64008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48640" cy="640080"/>
            </a:xfrm>
            <a:custGeom>
              <a:avLst/>
              <a:gdLst/>
              <a:ahLst/>
              <a:cxnLst/>
              <a:rect l="l" t="t" r="r" b="b"/>
              <a:pathLst>
                <a:path w="548640" h="640080">
                  <a:moveTo>
                    <a:pt x="0" y="160020"/>
                  </a:moveTo>
                  <a:lnTo>
                    <a:pt x="274320" y="160020"/>
                  </a:lnTo>
                  <a:lnTo>
                    <a:pt x="274320" y="0"/>
                  </a:lnTo>
                  <a:lnTo>
                    <a:pt x="548640" y="320040"/>
                  </a:lnTo>
                  <a:lnTo>
                    <a:pt x="274320" y="640080"/>
                  </a:lnTo>
                  <a:lnTo>
                    <a:pt x="274320" y="480060"/>
                  </a:lnTo>
                  <a:lnTo>
                    <a:pt x="0" y="480060"/>
                  </a:lnTo>
                  <a:close/>
                </a:path>
              </a:pathLst>
            </a:custGeom>
            <a:solidFill>
              <a:srgbClr val="808080">
                <a:alpha val="50196"/>
              </a:srgbClr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7777734" y="3771424"/>
            <a:ext cx="3086100" cy="1645920"/>
            <a:chOff x="0" y="0"/>
            <a:chExt cx="4114800" cy="219456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114800" cy="2194560"/>
            </a:xfrm>
            <a:custGeom>
              <a:avLst/>
              <a:gdLst/>
              <a:ahLst/>
              <a:cxnLst/>
              <a:rect l="l" t="t" r="r" b="b"/>
              <a:pathLst>
                <a:path w="4114800" h="219456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3749040" y="0"/>
                  </a:lnTo>
                  <a:cubicBezTo>
                    <a:pt x="3951097" y="0"/>
                    <a:pt x="4114800" y="163703"/>
                    <a:pt x="4114800" y="365760"/>
                  </a:cubicBezTo>
                  <a:lnTo>
                    <a:pt x="4114800" y="1828800"/>
                  </a:lnTo>
                  <a:cubicBezTo>
                    <a:pt x="4114800" y="2030857"/>
                    <a:pt x="3951097" y="2194560"/>
                    <a:pt x="3749040" y="2194560"/>
                  </a:cubicBezTo>
                  <a:lnTo>
                    <a:pt x="365760" y="2194560"/>
                  </a:lnTo>
                  <a:cubicBezTo>
                    <a:pt x="163703" y="2194560"/>
                    <a:pt x="0" y="2030857"/>
                    <a:pt x="0" y="1828800"/>
                  </a:cubicBezTo>
                  <a:close/>
                </a:path>
              </a:pathLst>
            </a:custGeom>
            <a:solidFill>
              <a:srgbClr val="808080">
                <a:alpha val="50196"/>
              </a:srgbClr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19050"/>
              <a:ext cx="4114800" cy="22136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World Model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Encoder → 2-layer LSTM → attention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901934" y="4251484"/>
            <a:ext cx="411480" cy="480060"/>
            <a:chOff x="0" y="0"/>
            <a:chExt cx="548640" cy="64008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48640" cy="640080"/>
            </a:xfrm>
            <a:custGeom>
              <a:avLst/>
              <a:gdLst/>
              <a:ahLst/>
              <a:cxnLst/>
              <a:rect l="l" t="t" r="r" b="b"/>
              <a:pathLst>
                <a:path w="548640" h="640080">
                  <a:moveTo>
                    <a:pt x="0" y="160020"/>
                  </a:moveTo>
                  <a:lnTo>
                    <a:pt x="274320" y="160020"/>
                  </a:lnTo>
                  <a:lnTo>
                    <a:pt x="274320" y="0"/>
                  </a:lnTo>
                  <a:lnTo>
                    <a:pt x="548640" y="320040"/>
                  </a:lnTo>
                  <a:lnTo>
                    <a:pt x="274320" y="640080"/>
                  </a:lnTo>
                  <a:lnTo>
                    <a:pt x="274320" y="480060"/>
                  </a:lnTo>
                  <a:lnTo>
                    <a:pt x="0" y="480060"/>
                  </a:lnTo>
                  <a:close/>
                </a:path>
              </a:pathLst>
            </a:custGeom>
            <a:solidFill>
              <a:srgbClr val="808080">
                <a:alpha val="50196"/>
              </a:srgbClr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11309604" y="3771424"/>
            <a:ext cx="3086100" cy="1645920"/>
            <a:chOff x="0" y="0"/>
            <a:chExt cx="4114800" cy="219456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114800" cy="2194560"/>
            </a:xfrm>
            <a:custGeom>
              <a:avLst/>
              <a:gdLst/>
              <a:ahLst/>
              <a:cxnLst/>
              <a:rect l="l" t="t" r="r" b="b"/>
              <a:pathLst>
                <a:path w="4114800" h="219456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3749040" y="0"/>
                  </a:lnTo>
                  <a:cubicBezTo>
                    <a:pt x="3951097" y="0"/>
                    <a:pt x="4114800" y="163703"/>
                    <a:pt x="4114800" y="365760"/>
                  </a:cubicBezTo>
                  <a:lnTo>
                    <a:pt x="4114800" y="1828800"/>
                  </a:lnTo>
                  <a:cubicBezTo>
                    <a:pt x="4114800" y="2030857"/>
                    <a:pt x="3951097" y="2194560"/>
                    <a:pt x="3749040" y="2194560"/>
                  </a:cubicBezTo>
                  <a:lnTo>
                    <a:pt x="365760" y="2194560"/>
                  </a:lnTo>
                  <a:cubicBezTo>
                    <a:pt x="163703" y="2194560"/>
                    <a:pt x="0" y="2030857"/>
                    <a:pt x="0" y="1828800"/>
                  </a:cubicBezTo>
                  <a:close/>
                </a:path>
              </a:pathLst>
            </a:custGeom>
            <a:solidFill>
              <a:srgbClr val="808080">
                <a:alpha val="50196"/>
              </a:srgbClr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19050"/>
              <a:ext cx="4114800" cy="22136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Forecast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K-step autoregressive rollout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4510004" y="4251484"/>
            <a:ext cx="411480" cy="480060"/>
            <a:chOff x="0" y="0"/>
            <a:chExt cx="548640" cy="64008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48640" cy="640080"/>
            </a:xfrm>
            <a:custGeom>
              <a:avLst/>
              <a:gdLst/>
              <a:ahLst/>
              <a:cxnLst/>
              <a:rect l="l" t="t" r="r" b="b"/>
              <a:pathLst>
                <a:path w="548640" h="640080">
                  <a:moveTo>
                    <a:pt x="0" y="160020"/>
                  </a:moveTo>
                  <a:lnTo>
                    <a:pt x="274320" y="160020"/>
                  </a:lnTo>
                  <a:lnTo>
                    <a:pt x="274320" y="0"/>
                  </a:lnTo>
                  <a:lnTo>
                    <a:pt x="548640" y="320040"/>
                  </a:lnTo>
                  <a:lnTo>
                    <a:pt x="274320" y="640080"/>
                  </a:lnTo>
                  <a:lnTo>
                    <a:pt x="274320" y="480060"/>
                  </a:lnTo>
                  <a:lnTo>
                    <a:pt x="0" y="480060"/>
                  </a:lnTo>
                  <a:close/>
                </a:path>
              </a:pathLst>
            </a:custGeom>
            <a:solidFill>
              <a:srgbClr val="808080">
                <a:alpha val="50196"/>
              </a:srgbClr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14989626" y="3771424"/>
            <a:ext cx="3086100" cy="1645920"/>
            <a:chOff x="0" y="0"/>
            <a:chExt cx="4114800" cy="219456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114800" cy="2194560"/>
            </a:xfrm>
            <a:custGeom>
              <a:avLst/>
              <a:gdLst/>
              <a:ahLst/>
              <a:cxnLst/>
              <a:rect l="l" t="t" r="r" b="b"/>
              <a:pathLst>
                <a:path w="4114800" h="219456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3749040" y="0"/>
                  </a:lnTo>
                  <a:cubicBezTo>
                    <a:pt x="3951097" y="0"/>
                    <a:pt x="4114800" y="163703"/>
                    <a:pt x="4114800" y="365760"/>
                  </a:cubicBezTo>
                  <a:lnTo>
                    <a:pt x="4114800" y="1828800"/>
                  </a:lnTo>
                  <a:cubicBezTo>
                    <a:pt x="4114800" y="2030857"/>
                    <a:pt x="3951097" y="2194560"/>
                    <a:pt x="3749040" y="2194560"/>
                  </a:cubicBezTo>
                  <a:lnTo>
                    <a:pt x="365760" y="2194560"/>
                  </a:lnTo>
                  <a:cubicBezTo>
                    <a:pt x="163703" y="2194560"/>
                    <a:pt x="0" y="2030857"/>
                    <a:pt x="0" y="1828800"/>
                  </a:cubicBezTo>
                  <a:close/>
                </a:path>
              </a:pathLst>
            </a:custGeom>
            <a:solidFill>
              <a:srgbClr val="F2F3F2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19050"/>
              <a:ext cx="4114800" cy="22136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Decision Support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ATT&amp;CK stage + risk + explanations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77240" y="5883212"/>
            <a:ext cx="5486400" cy="2125980"/>
            <a:chOff x="0" y="0"/>
            <a:chExt cx="7315200" cy="283464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315200" cy="2834640"/>
            </a:xfrm>
            <a:custGeom>
              <a:avLst/>
              <a:gdLst/>
              <a:ahLst/>
              <a:cxnLst/>
              <a:rect l="l" t="t" r="r" b="b"/>
              <a:pathLst>
                <a:path w="7315200" h="2834640">
                  <a:moveTo>
                    <a:pt x="0" y="472440"/>
                  </a:moveTo>
                  <a:cubicBezTo>
                    <a:pt x="0" y="211582"/>
                    <a:pt x="211582" y="0"/>
                    <a:pt x="472440" y="0"/>
                  </a:cubicBezTo>
                  <a:lnTo>
                    <a:pt x="6842760" y="0"/>
                  </a:lnTo>
                  <a:cubicBezTo>
                    <a:pt x="7103618" y="0"/>
                    <a:pt x="7315200" y="211582"/>
                    <a:pt x="7315200" y="472440"/>
                  </a:cubicBezTo>
                  <a:lnTo>
                    <a:pt x="7315200" y="2362200"/>
                  </a:lnTo>
                  <a:cubicBezTo>
                    <a:pt x="7315200" y="2623185"/>
                    <a:pt x="7103618" y="2834640"/>
                    <a:pt x="6842760" y="2834640"/>
                  </a:cubicBezTo>
                  <a:lnTo>
                    <a:pt x="472440" y="2834640"/>
                  </a:lnTo>
                  <a:cubicBezTo>
                    <a:pt x="211582" y="2834640"/>
                    <a:pt x="0" y="2623058"/>
                    <a:pt x="0" y="2362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19050"/>
              <a:ext cx="7315200" cy="28536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759"/>
                </a:lnSpc>
              </a:pPr>
              <a:r>
                <a:rPr lang="en-US" sz="2299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State representation</a:t>
              </a:r>
            </a:p>
            <a:p>
              <a:pPr algn="l">
                <a:lnSpc>
                  <a:spcPts val="2219"/>
                </a:lnSpc>
              </a:pPr>
              <a:r>
                <a:rPr lang="en-US" sz="1849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33 engineered features: flow/packet statistics plus scan ratio, half-open ratio, beacon regularity, admin-port ratio and other kill-chain signals.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496812" y="5883212"/>
            <a:ext cx="5486400" cy="2125980"/>
            <a:chOff x="0" y="0"/>
            <a:chExt cx="7315200" cy="283464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7315200" cy="2834640"/>
            </a:xfrm>
            <a:custGeom>
              <a:avLst/>
              <a:gdLst/>
              <a:ahLst/>
              <a:cxnLst/>
              <a:rect l="l" t="t" r="r" b="b"/>
              <a:pathLst>
                <a:path w="7315200" h="2834640">
                  <a:moveTo>
                    <a:pt x="0" y="472440"/>
                  </a:moveTo>
                  <a:cubicBezTo>
                    <a:pt x="0" y="211582"/>
                    <a:pt x="211582" y="0"/>
                    <a:pt x="472440" y="0"/>
                  </a:cubicBezTo>
                  <a:lnTo>
                    <a:pt x="6842760" y="0"/>
                  </a:lnTo>
                  <a:cubicBezTo>
                    <a:pt x="7103618" y="0"/>
                    <a:pt x="7315200" y="211582"/>
                    <a:pt x="7315200" y="472440"/>
                  </a:cubicBezTo>
                  <a:lnTo>
                    <a:pt x="7315200" y="2362200"/>
                  </a:lnTo>
                  <a:cubicBezTo>
                    <a:pt x="7315200" y="2623185"/>
                    <a:pt x="7103618" y="2834640"/>
                    <a:pt x="6842760" y="2834640"/>
                  </a:cubicBezTo>
                  <a:lnTo>
                    <a:pt x="472440" y="2834640"/>
                  </a:lnTo>
                  <a:cubicBezTo>
                    <a:pt x="211582" y="2834640"/>
                    <a:pt x="0" y="2623058"/>
                    <a:pt x="0" y="2362200"/>
                  </a:cubicBezTo>
                  <a:close/>
                </a:path>
              </a:pathLst>
            </a:custGeom>
            <a:solidFill>
              <a:srgbClr val="F2F3F2"/>
            </a:solidFill>
          </p:spPr>
        </p:sp>
        <p:sp>
          <p:nvSpPr>
            <p:cNvPr id="40" name="TextBox 40"/>
            <p:cNvSpPr txBox="1"/>
            <p:nvPr/>
          </p:nvSpPr>
          <p:spPr>
            <a:xfrm>
              <a:off x="0" y="-19050"/>
              <a:ext cx="7315200" cy="28536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759"/>
                </a:lnSpc>
              </a:pPr>
              <a:r>
                <a:rPr lang="en-US" sz="2299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Three prediction heads</a:t>
              </a:r>
            </a:p>
            <a:p>
              <a:pPr algn="l">
                <a:lnSpc>
                  <a:spcPts val="2219"/>
                </a:lnSpc>
              </a:pPr>
              <a:r>
                <a:rPr lang="en-US" sz="1849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Next-state dynamics (MSE) • attack stage (cross-entropy) • infiltration probability (BCE). Combined training forces the model to learn traffic dynamics.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2230100" y="5883212"/>
            <a:ext cx="5280660" cy="2125980"/>
            <a:chOff x="0" y="0"/>
            <a:chExt cx="7040880" cy="283464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7040880" cy="2834640"/>
            </a:xfrm>
            <a:custGeom>
              <a:avLst/>
              <a:gdLst/>
              <a:ahLst/>
              <a:cxnLst/>
              <a:rect l="l" t="t" r="r" b="b"/>
              <a:pathLst>
                <a:path w="7040880" h="2834640">
                  <a:moveTo>
                    <a:pt x="0" y="472440"/>
                  </a:moveTo>
                  <a:cubicBezTo>
                    <a:pt x="0" y="211582"/>
                    <a:pt x="211582" y="0"/>
                    <a:pt x="472440" y="0"/>
                  </a:cubicBezTo>
                  <a:lnTo>
                    <a:pt x="6568440" y="0"/>
                  </a:lnTo>
                  <a:cubicBezTo>
                    <a:pt x="6829425" y="0"/>
                    <a:pt x="7040880" y="211582"/>
                    <a:pt x="7040880" y="472440"/>
                  </a:cubicBezTo>
                  <a:lnTo>
                    <a:pt x="7040880" y="2362200"/>
                  </a:lnTo>
                  <a:cubicBezTo>
                    <a:pt x="7040880" y="2623185"/>
                    <a:pt x="6829298" y="2834640"/>
                    <a:pt x="6568440" y="2834640"/>
                  </a:cubicBezTo>
                  <a:lnTo>
                    <a:pt x="472440" y="2834640"/>
                  </a:lnTo>
                  <a:cubicBezTo>
                    <a:pt x="211582" y="2834640"/>
                    <a:pt x="0" y="2623058"/>
                    <a:pt x="0" y="2362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3" name="TextBox 43"/>
            <p:cNvSpPr txBox="1"/>
            <p:nvPr/>
          </p:nvSpPr>
          <p:spPr>
            <a:xfrm>
              <a:off x="0" y="-19050"/>
              <a:ext cx="7040880" cy="28536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759"/>
                </a:lnSpc>
              </a:pPr>
              <a:r>
                <a:rPr lang="en-US" sz="2299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Explainability</a:t>
              </a:r>
            </a:p>
            <a:p>
              <a:pPr algn="l">
                <a:lnSpc>
                  <a:spcPts val="2219"/>
                </a:lnSpc>
              </a:pPr>
              <a:r>
                <a:rPr lang="en-US" sz="1849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Attention weights show which recent windows mattered; gradient × input saliency highlights the traffic features driving the forecast. SHAP is used for the baseline.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77240" y="8611743"/>
            <a:ext cx="16733520" cy="960120"/>
            <a:chOff x="0" y="0"/>
            <a:chExt cx="22311360" cy="128016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2311361" cy="1280160"/>
            </a:xfrm>
            <a:custGeom>
              <a:avLst/>
              <a:gdLst/>
              <a:ahLst/>
              <a:cxnLst/>
              <a:rect l="l" t="t" r="r" b="b"/>
              <a:pathLst>
                <a:path w="22311361" h="128016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lnTo>
                    <a:pt x="22098000" y="0"/>
                  </a:lnTo>
                  <a:cubicBezTo>
                    <a:pt x="22215856" y="0"/>
                    <a:pt x="22311361" y="95504"/>
                    <a:pt x="22311361" y="213360"/>
                  </a:cubicBezTo>
                  <a:lnTo>
                    <a:pt x="22311361" y="1066800"/>
                  </a:lnTo>
                  <a:cubicBezTo>
                    <a:pt x="22311361" y="1184656"/>
                    <a:pt x="22215856" y="1280160"/>
                    <a:pt x="22098000" y="1280160"/>
                  </a:cubicBezTo>
                  <a:lnTo>
                    <a:pt x="213360" y="1280160"/>
                  </a:lnTo>
                  <a:cubicBezTo>
                    <a:pt x="95504" y="1280160"/>
                    <a:pt x="0" y="1184656"/>
                    <a:pt x="0" y="1066800"/>
                  </a:cubicBezTo>
                  <a:close/>
                </a:path>
              </a:pathLst>
            </a:custGeom>
            <a:solidFill>
              <a:srgbClr val="F2F3F2"/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0" y="-19050"/>
              <a:ext cx="22311360" cy="12992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Prototype flow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Offline Streamlit demo → rolling risk timeline → K-step forecast → MITRE ATT&amp;CK stage → flagged flows + explanations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54380" y="2167128"/>
            <a:ext cx="1508760" cy="521208"/>
            <a:chOff x="0" y="0"/>
            <a:chExt cx="2011680" cy="694944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011680" cy="694944"/>
            </a:xfrm>
            <a:custGeom>
              <a:avLst/>
              <a:gdLst/>
              <a:ahLst/>
              <a:cxnLst/>
              <a:rect l="l" t="t" r="r" b="b"/>
              <a:pathLst>
                <a:path w="2011680" h="694944">
                  <a:moveTo>
                    <a:pt x="0" y="115824"/>
                  </a:moveTo>
                  <a:cubicBezTo>
                    <a:pt x="0" y="51816"/>
                    <a:pt x="51816" y="0"/>
                    <a:pt x="115824" y="0"/>
                  </a:cubicBezTo>
                  <a:lnTo>
                    <a:pt x="1895856" y="0"/>
                  </a:lnTo>
                  <a:cubicBezTo>
                    <a:pt x="1959864" y="0"/>
                    <a:pt x="2011680" y="51816"/>
                    <a:pt x="2011680" y="115824"/>
                  </a:cubicBezTo>
                  <a:lnTo>
                    <a:pt x="2011680" y="579120"/>
                  </a:lnTo>
                  <a:cubicBezTo>
                    <a:pt x="2011680" y="643128"/>
                    <a:pt x="1959864" y="694944"/>
                    <a:pt x="1895856" y="694944"/>
                  </a:cubicBezTo>
                  <a:lnTo>
                    <a:pt x="115824" y="694944"/>
                  </a:lnTo>
                  <a:cubicBezTo>
                    <a:pt x="51816" y="694944"/>
                    <a:pt x="0" y="643128"/>
                    <a:pt x="0" y="579120"/>
                  </a:cubicBezTo>
                  <a:close/>
                </a:path>
              </a:pathLst>
            </a:custGeom>
            <a:solidFill>
              <a:srgbClr val="F2F3F2"/>
            </a:solidFill>
          </p:spPr>
        </p:sp>
        <p:sp>
          <p:nvSpPr>
            <p:cNvPr id="49" name="TextBox 49"/>
            <p:cNvSpPr txBox="1"/>
            <p:nvPr/>
          </p:nvSpPr>
          <p:spPr>
            <a:xfrm>
              <a:off x="0" y="-19050"/>
              <a:ext cx="2011680" cy="713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9"/>
                </a:lnSpc>
              </a:pPr>
              <a:r>
                <a:rPr lang="en-US" sz="1799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Python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2372868" y="2167128"/>
            <a:ext cx="1645920" cy="521208"/>
            <a:chOff x="0" y="0"/>
            <a:chExt cx="2194560" cy="694944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2194560" cy="694944"/>
            </a:xfrm>
            <a:custGeom>
              <a:avLst/>
              <a:gdLst/>
              <a:ahLst/>
              <a:cxnLst/>
              <a:rect l="l" t="t" r="r" b="b"/>
              <a:pathLst>
                <a:path w="2194560" h="694944">
                  <a:moveTo>
                    <a:pt x="0" y="115824"/>
                  </a:moveTo>
                  <a:cubicBezTo>
                    <a:pt x="0" y="51816"/>
                    <a:pt x="51816" y="0"/>
                    <a:pt x="115824" y="0"/>
                  </a:cubicBezTo>
                  <a:lnTo>
                    <a:pt x="2078736" y="0"/>
                  </a:lnTo>
                  <a:cubicBezTo>
                    <a:pt x="2142744" y="0"/>
                    <a:pt x="2194560" y="51816"/>
                    <a:pt x="2194560" y="115824"/>
                  </a:cubicBezTo>
                  <a:lnTo>
                    <a:pt x="2194560" y="579120"/>
                  </a:lnTo>
                  <a:cubicBezTo>
                    <a:pt x="2194560" y="643128"/>
                    <a:pt x="2142744" y="694944"/>
                    <a:pt x="2078736" y="694944"/>
                  </a:cubicBezTo>
                  <a:lnTo>
                    <a:pt x="115824" y="694944"/>
                  </a:lnTo>
                  <a:cubicBezTo>
                    <a:pt x="51816" y="694944"/>
                    <a:pt x="0" y="643128"/>
                    <a:pt x="0" y="579120"/>
                  </a:cubicBezTo>
                  <a:close/>
                </a:path>
              </a:pathLst>
            </a:custGeom>
            <a:solidFill>
              <a:srgbClr val="F2F3F2"/>
            </a:solidFill>
          </p:spPr>
        </p:sp>
        <p:sp>
          <p:nvSpPr>
            <p:cNvPr id="52" name="TextBox 52"/>
            <p:cNvSpPr txBox="1"/>
            <p:nvPr/>
          </p:nvSpPr>
          <p:spPr>
            <a:xfrm>
              <a:off x="0" y="-19050"/>
              <a:ext cx="2194560" cy="713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9"/>
                </a:lnSpc>
              </a:pPr>
              <a:r>
                <a:rPr lang="en-US" sz="1799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PyTorch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4128516" y="2167128"/>
            <a:ext cx="2468880" cy="521208"/>
            <a:chOff x="0" y="0"/>
            <a:chExt cx="3291840" cy="694944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3291840" cy="694944"/>
            </a:xfrm>
            <a:custGeom>
              <a:avLst/>
              <a:gdLst/>
              <a:ahLst/>
              <a:cxnLst/>
              <a:rect l="l" t="t" r="r" b="b"/>
              <a:pathLst>
                <a:path w="3291840" h="694944">
                  <a:moveTo>
                    <a:pt x="0" y="115824"/>
                  </a:moveTo>
                  <a:cubicBezTo>
                    <a:pt x="0" y="51816"/>
                    <a:pt x="51816" y="0"/>
                    <a:pt x="115824" y="0"/>
                  </a:cubicBezTo>
                  <a:lnTo>
                    <a:pt x="3176016" y="0"/>
                  </a:lnTo>
                  <a:cubicBezTo>
                    <a:pt x="3240024" y="0"/>
                    <a:pt x="3291840" y="51816"/>
                    <a:pt x="3291840" y="115824"/>
                  </a:cubicBezTo>
                  <a:lnTo>
                    <a:pt x="3291840" y="579120"/>
                  </a:lnTo>
                  <a:cubicBezTo>
                    <a:pt x="3291840" y="643128"/>
                    <a:pt x="3240024" y="694944"/>
                    <a:pt x="3176016" y="694944"/>
                  </a:cubicBezTo>
                  <a:lnTo>
                    <a:pt x="115824" y="694944"/>
                  </a:lnTo>
                  <a:cubicBezTo>
                    <a:pt x="51816" y="694944"/>
                    <a:pt x="0" y="643128"/>
                    <a:pt x="0" y="579120"/>
                  </a:cubicBezTo>
                  <a:close/>
                </a:path>
              </a:pathLst>
            </a:custGeom>
            <a:solidFill>
              <a:srgbClr val="F2F3F2"/>
            </a:solidFill>
          </p:spPr>
        </p:sp>
        <p:sp>
          <p:nvSpPr>
            <p:cNvPr id="55" name="TextBox 55"/>
            <p:cNvSpPr txBox="1"/>
            <p:nvPr/>
          </p:nvSpPr>
          <p:spPr>
            <a:xfrm>
              <a:off x="0" y="-19050"/>
              <a:ext cx="3291840" cy="713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9"/>
                </a:lnSpc>
              </a:pPr>
              <a:r>
                <a:rPr lang="en-US" sz="1799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LSTM + Attention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6707124" y="2167128"/>
            <a:ext cx="1988820" cy="521208"/>
            <a:chOff x="0" y="0"/>
            <a:chExt cx="2651760" cy="694944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2651760" cy="694944"/>
            </a:xfrm>
            <a:custGeom>
              <a:avLst/>
              <a:gdLst/>
              <a:ahLst/>
              <a:cxnLst/>
              <a:rect l="l" t="t" r="r" b="b"/>
              <a:pathLst>
                <a:path w="2651760" h="694944">
                  <a:moveTo>
                    <a:pt x="0" y="115824"/>
                  </a:moveTo>
                  <a:cubicBezTo>
                    <a:pt x="0" y="51816"/>
                    <a:pt x="51816" y="0"/>
                    <a:pt x="115824" y="0"/>
                  </a:cubicBezTo>
                  <a:lnTo>
                    <a:pt x="2535936" y="0"/>
                  </a:lnTo>
                  <a:cubicBezTo>
                    <a:pt x="2599944" y="0"/>
                    <a:pt x="2651760" y="51816"/>
                    <a:pt x="2651760" y="115824"/>
                  </a:cubicBezTo>
                  <a:lnTo>
                    <a:pt x="2651760" y="579120"/>
                  </a:lnTo>
                  <a:cubicBezTo>
                    <a:pt x="2651760" y="643128"/>
                    <a:pt x="2599944" y="694944"/>
                    <a:pt x="2535936" y="694944"/>
                  </a:cubicBezTo>
                  <a:lnTo>
                    <a:pt x="115824" y="694944"/>
                  </a:lnTo>
                  <a:cubicBezTo>
                    <a:pt x="51816" y="694944"/>
                    <a:pt x="0" y="643128"/>
                    <a:pt x="0" y="579120"/>
                  </a:cubicBezTo>
                  <a:close/>
                </a:path>
              </a:pathLst>
            </a:custGeom>
            <a:solidFill>
              <a:srgbClr val="F2F3F2"/>
            </a:solidFill>
          </p:spPr>
        </p:sp>
        <p:sp>
          <p:nvSpPr>
            <p:cNvPr id="58" name="TextBox 58"/>
            <p:cNvSpPr txBox="1"/>
            <p:nvPr/>
          </p:nvSpPr>
          <p:spPr>
            <a:xfrm>
              <a:off x="0" y="-19050"/>
              <a:ext cx="2651760" cy="713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9"/>
                </a:lnSpc>
              </a:pPr>
              <a:r>
                <a:rPr lang="en-US" sz="1799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scikit-learn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8805672" y="2167128"/>
            <a:ext cx="1303020" cy="521208"/>
            <a:chOff x="0" y="0"/>
            <a:chExt cx="1737360" cy="694944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737360" cy="694944"/>
            </a:xfrm>
            <a:custGeom>
              <a:avLst/>
              <a:gdLst/>
              <a:ahLst/>
              <a:cxnLst/>
              <a:rect l="l" t="t" r="r" b="b"/>
              <a:pathLst>
                <a:path w="1737360" h="694944">
                  <a:moveTo>
                    <a:pt x="0" y="115824"/>
                  </a:moveTo>
                  <a:cubicBezTo>
                    <a:pt x="0" y="51816"/>
                    <a:pt x="51816" y="0"/>
                    <a:pt x="115824" y="0"/>
                  </a:cubicBezTo>
                  <a:lnTo>
                    <a:pt x="1621536" y="0"/>
                  </a:lnTo>
                  <a:cubicBezTo>
                    <a:pt x="1685544" y="0"/>
                    <a:pt x="1737360" y="51816"/>
                    <a:pt x="1737360" y="115824"/>
                  </a:cubicBezTo>
                  <a:lnTo>
                    <a:pt x="1737360" y="579120"/>
                  </a:lnTo>
                  <a:cubicBezTo>
                    <a:pt x="1737360" y="643128"/>
                    <a:pt x="1685544" y="694944"/>
                    <a:pt x="1621536" y="694944"/>
                  </a:cubicBezTo>
                  <a:lnTo>
                    <a:pt x="115824" y="694944"/>
                  </a:lnTo>
                  <a:cubicBezTo>
                    <a:pt x="51816" y="694944"/>
                    <a:pt x="0" y="643128"/>
                    <a:pt x="0" y="579120"/>
                  </a:cubicBezTo>
                  <a:close/>
                </a:path>
              </a:pathLst>
            </a:custGeom>
            <a:solidFill>
              <a:srgbClr val="F2F3F2"/>
            </a:solidFill>
          </p:spPr>
        </p:sp>
        <p:sp>
          <p:nvSpPr>
            <p:cNvPr id="61" name="TextBox 61"/>
            <p:cNvSpPr txBox="1"/>
            <p:nvPr/>
          </p:nvSpPr>
          <p:spPr>
            <a:xfrm>
              <a:off x="0" y="-19050"/>
              <a:ext cx="1737360" cy="713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9"/>
                </a:lnSpc>
              </a:pPr>
              <a:r>
                <a:rPr lang="en-US" sz="1799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SHAP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0218420" y="2167128"/>
            <a:ext cx="2057400" cy="521208"/>
            <a:chOff x="0" y="0"/>
            <a:chExt cx="2743200" cy="694944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2743200" cy="694944"/>
            </a:xfrm>
            <a:custGeom>
              <a:avLst/>
              <a:gdLst/>
              <a:ahLst/>
              <a:cxnLst/>
              <a:rect l="l" t="t" r="r" b="b"/>
              <a:pathLst>
                <a:path w="2743200" h="694944">
                  <a:moveTo>
                    <a:pt x="0" y="115824"/>
                  </a:moveTo>
                  <a:cubicBezTo>
                    <a:pt x="0" y="51816"/>
                    <a:pt x="51816" y="0"/>
                    <a:pt x="115824" y="0"/>
                  </a:cubicBezTo>
                  <a:lnTo>
                    <a:pt x="2627376" y="0"/>
                  </a:lnTo>
                  <a:cubicBezTo>
                    <a:pt x="2691384" y="0"/>
                    <a:pt x="2743200" y="51816"/>
                    <a:pt x="2743200" y="115824"/>
                  </a:cubicBezTo>
                  <a:lnTo>
                    <a:pt x="2743200" y="579120"/>
                  </a:lnTo>
                  <a:cubicBezTo>
                    <a:pt x="2743200" y="643128"/>
                    <a:pt x="2691384" y="694944"/>
                    <a:pt x="2627376" y="694944"/>
                  </a:cubicBezTo>
                  <a:lnTo>
                    <a:pt x="115824" y="694944"/>
                  </a:lnTo>
                  <a:cubicBezTo>
                    <a:pt x="51816" y="694944"/>
                    <a:pt x="0" y="643128"/>
                    <a:pt x="0" y="579120"/>
                  </a:cubicBezTo>
                  <a:close/>
                </a:path>
              </a:pathLst>
            </a:custGeom>
            <a:solidFill>
              <a:srgbClr val="F2F3F2"/>
            </a:solidFill>
          </p:spPr>
        </p:sp>
        <p:sp>
          <p:nvSpPr>
            <p:cNvPr id="64" name="TextBox 64"/>
            <p:cNvSpPr txBox="1"/>
            <p:nvPr/>
          </p:nvSpPr>
          <p:spPr>
            <a:xfrm>
              <a:off x="0" y="-19050"/>
              <a:ext cx="2743200" cy="713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9"/>
                </a:lnSpc>
              </a:pPr>
              <a:r>
                <a:rPr lang="en-US" sz="1799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pandas / NumPy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2385548" y="2167128"/>
            <a:ext cx="1577340" cy="521208"/>
            <a:chOff x="0" y="0"/>
            <a:chExt cx="2103120" cy="694944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2103120" cy="694944"/>
            </a:xfrm>
            <a:custGeom>
              <a:avLst/>
              <a:gdLst/>
              <a:ahLst/>
              <a:cxnLst/>
              <a:rect l="l" t="t" r="r" b="b"/>
              <a:pathLst>
                <a:path w="2103120" h="694944">
                  <a:moveTo>
                    <a:pt x="0" y="115824"/>
                  </a:moveTo>
                  <a:cubicBezTo>
                    <a:pt x="0" y="51816"/>
                    <a:pt x="51816" y="0"/>
                    <a:pt x="115824" y="0"/>
                  </a:cubicBezTo>
                  <a:lnTo>
                    <a:pt x="1987296" y="0"/>
                  </a:lnTo>
                  <a:cubicBezTo>
                    <a:pt x="2051304" y="0"/>
                    <a:pt x="2103120" y="51816"/>
                    <a:pt x="2103120" y="115824"/>
                  </a:cubicBezTo>
                  <a:lnTo>
                    <a:pt x="2103120" y="579120"/>
                  </a:lnTo>
                  <a:cubicBezTo>
                    <a:pt x="2103120" y="643128"/>
                    <a:pt x="2051304" y="694944"/>
                    <a:pt x="1987296" y="694944"/>
                  </a:cubicBezTo>
                  <a:lnTo>
                    <a:pt x="115824" y="694944"/>
                  </a:lnTo>
                  <a:cubicBezTo>
                    <a:pt x="51816" y="694944"/>
                    <a:pt x="0" y="643128"/>
                    <a:pt x="0" y="579120"/>
                  </a:cubicBezTo>
                  <a:close/>
                </a:path>
              </a:pathLst>
            </a:custGeom>
            <a:solidFill>
              <a:srgbClr val="F2F3F2"/>
            </a:solidFill>
          </p:spPr>
        </p:sp>
        <p:sp>
          <p:nvSpPr>
            <p:cNvPr id="67" name="TextBox 67"/>
            <p:cNvSpPr txBox="1"/>
            <p:nvPr/>
          </p:nvSpPr>
          <p:spPr>
            <a:xfrm>
              <a:off x="0" y="-19050"/>
              <a:ext cx="2103120" cy="713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9"/>
                </a:lnSpc>
              </a:pPr>
              <a:r>
                <a:rPr lang="en-US" sz="1799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Streamlit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4072616" y="2167128"/>
            <a:ext cx="1988820" cy="521208"/>
            <a:chOff x="0" y="0"/>
            <a:chExt cx="2651760" cy="694944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2651760" cy="694944"/>
            </a:xfrm>
            <a:custGeom>
              <a:avLst/>
              <a:gdLst/>
              <a:ahLst/>
              <a:cxnLst/>
              <a:rect l="l" t="t" r="r" b="b"/>
              <a:pathLst>
                <a:path w="2651760" h="694944">
                  <a:moveTo>
                    <a:pt x="0" y="115824"/>
                  </a:moveTo>
                  <a:cubicBezTo>
                    <a:pt x="0" y="51816"/>
                    <a:pt x="51816" y="0"/>
                    <a:pt x="115824" y="0"/>
                  </a:cubicBezTo>
                  <a:lnTo>
                    <a:pt x="2535936" y="0"/>
                  </a:lnTo>
                  <a:cubicBezTo>
                    <a:pt x="2599944" y="0"/>
                    <a:pt x="2651760" y="51816"/>
                    <a:pt x="2651760" y="115824"/>
                  </a:cubicBezTo>
                  <a:lnTo>
                    <a:pt x="2651760" y="579120"/>
                  </a:lnTo>
                  <a:cubicBezTo>
                    <a:pt x="2651760" y="643128"/>
                    <a:pt x="2599944" y="694944"/>
                    <a:pt x="2535936" y="694944"/>
                  </a:cubicBezTo>
                  <a:lnTo>
                    <a:pt x="115824" y="694944"/>
                  </a:lnTo>
                  <a:cubicBezTo>
                    <a:pt x="51816" y="694944"/>
                    <a:pt x="0" y="643128"/>
                    <a:pt x="0" y="579120"/>
                  </a:cubicBezTo>
                  <a:close/>
                </a:path>
              </a:pathLst>
            </a:custGeom>
            <a:solidFill>
              <a:srgbClr val="F2F3F2"/>
            </a:solidFill>
          </p:spPr>
        </p:sp>
        <p:sp>
          <p:nvSpPr>
            <p:cNvPr id="70" name="TextBox 70"/>
            <p:cNvSpPr txBox="1"/>
            <p:nvPr/>
          </p:nvSpPr>
          <p:spPr>
            <a:xfrm>
              <a:off x="0" y="-19050"/>
              <a:ext cx="2651760" cy="713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9"/>
                </a:lnSpc>
              </a:pPr>
              <a:r>
                <a:rPr lang="en-US" sz="1799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CIC-IDS2017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475612" y="359321"/>
            <a:ext cx="1915887" cy="1249101"/>
            <a:chOff x="0" y="0"/>
            <a:chExt cx="2554516" cy="1665468"/>
          </a:xfrm>
        </p:grpSpPr>
        <p:sp>
          <p:nvSpPr>
            <p:cNvPr id="72" name="Freeform 72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0" y="-19050"/>
              <a:ext cx="2554516" cy="1684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_Celeryy_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1945600" cy="23050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040"/>
                </a:lnSpc>
              </a:pPr>
              <a:r>
                <a:rPr lang="en-US" sz="42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75612" y="359321"/>
            <a:ext cx="1915887" cy="1249099"/>
            <a:chOff x="0" y="0"/>
            <a:chExt cx="2554516" cy="1665465"/>
          </a:xfrm>
        </p:grpSpPr>
        <p:sp>
          <p:nvSpPr>
            <p:cNvPr id="6" name="Freeform 6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1F497D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554516" cy="16845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KHUSHAL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762045" y="85649"/>
            <a:ext cx="3313681" cy="1684306"/>
            <a:chOff x="0" y="0"/>
            <a:chExt cx="4418241" cy="2245741"/>
          </a:xfrm>
        </p:grpSpPr>
        <p:sp>
          <p:nvSpPr>
            <p:cNvPr id="9" name="Freeform 9" descr="WhatsApp Image 2026-08-25 at 11.41.35 PM.jpe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70" r="-271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781812" y="1681734"/>
            <a:ext cx="16404336" cy="375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Feasibility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754380" y="2221992"/>
            <a:ext cx="8023860" cy="1399032"/>
            <a:chOff x="0" y="0"/>
            <a:chExt cx="10698480" cy="186537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698480" cy="1865376"/>
            </a:xfrm>
            <a:custGeom>
              <a:avLst/>
              <a:gdLst/>
              <a:ahLst/>
              <a:cxnLst/>
              <a:rect l="l" t="t" r="r" b="b"/>
              <a:pathLst>
                <a:path w="10698480" h="1865376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lnTo>
                    <a:pt x="10387584" y="0"/>
                  </a:lnTo>
                  <a:cubicBezTo>
                    <a:pt x="10559288" y="0"/>
                    <a:pt x="10698480" y="139192"/>
                    <a:pt x="10698480" y="310896"/>
                  </a:cubicBezTo>
                  <a:lnTo>
                    <a:pt x="10698480" y="1554480"/>
                  </a:lnTo>
                  <a:cubicBezTo>
                    <a:pt x="10698480" y="1726184"/>
                    <a:pt x="10559288" y="1865376"/>
                    <a:pt x="10387584" y="1865376"/>
                  </a:cubicBezTo>
                  <a:lnTo>
                    <a:pt x="310896" y="1865376"/>
                  </a:lnTo>
                  <a:cubicBezTo>
                    <a:pt x="139192" y="1865376"/>
                    <a:pt x="0" y="1726184"/>
                    <a:pt x="0" y="1554480"/>
                  </a:cubicBezTo>
                  <a:close/>
                </a:path>
              </a:pathLst>
            </a:custGeom>
            <a:solidFill>
              <a:srgbClr val="F2F3F2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10698480" cy="1874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579"/>
                </a:lnSpc>
              </a:pPr>
              <a:r>
                <a:rPr lang="en-US" sz="2149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Working prototype</a:t>
              </a:r>
            </a:p>
            <a:p>
              <a:pPr algn="l">
                <a:lnSpc>
                  <a:spcPts val="2129"/>
                </a:lnSpc>
              </a:pPr>
              <a:r>
                <a:rPr lang="en-US" sz="1774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Offline Streamlit demo, real CIC-IDS2017 checkpoint and synthetic development checkpoint are included in the repository.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189720" y="2221992"/>
            <a:ext cx="8023860" cy="1399032"/>
            <a:chOff x="0" y="0"/>
            <a:chExt cx="10698480" cy="186537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698480" cy="1865376"/>
            </a:xfrm>
            <a:custGeom>
              <a:avLst/>
              <a:gdLst/>
              <a:ahLst/>
              <a:cxnLst/>
              <a:rect l="l" t="t" r="r" b="b"/>
              <a:pathLst>
                <a:path w="10698480" h="1865376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lnTo>
                    <a:pt x="10387584" y="0"/>
                  </a:lnTo>
                  <a:cubicBezTo>
                    <a:pt x="10559288" y="0"/>
                    <a:pt x="10698480" y="139192"/>
                    <a:pt x="10698480" y="310896"/>
                  </a:cubicBezTo>
                  <a:lnTo>
                    <a:pt x="10698480" y="1554480"/>
                  </a:lnTo>
                  <a:cubicBezTo>
                    <a:pt x="10698480" y="1726184"/>
                    <a:pt x="10559288" y="1865376"/>
                    <a:pt x="10387584" y="1865376"/>
                  </a:cubicBezTo>
                  <a:lnTo>
                    <a:pt x="310896" y="1865376"/>
                  </a:lnTo>
                  <a:cubicBezTo>
                    <a:pt x="139192" y="1865376"/>
                    <a:pt x="0" y="1726184"/>
                    <a:pt x="0" y="1554480"/>
                  </a:cubicBezTo>
                  <a:close/>
                </a:path>
              </a:pathLst>
            </a:custGeom>
            <a:solidFill>
              <a:srgbClr val="F2F3F2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10698480" cy="1874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579"/>
                </a:lnSpc>
              </a:pPr>
              <a:r>
                <a:rPr lang="en-US" sz="2149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Reproducible stack</a:t>
              </a:r>
            </a:p>
            <a:p>
              <a:pPr algn="l">
                <a:lnSpc>
                  <a:spcPts val="2129"/>
                </a:lnSpc>
              </a:pPr>
              <a:r>
                <a:rPr lang="en-US" sz="1774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Python + PyTorch + scikit-learn + SHAP + pandas/NumPy; no cloud API dependency.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54380" y="3895344"/>
            <a:ext cx="8023860" cy="1399032"/>
            <a:chOff x="0" y="0"/>
            <a:chExt cx="10698480" cy="186537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698480" cy="1865376"/>
            </a:xfrm>
            <a:custGeom>
              <a:avLst/>
              <a:gdLst/>
              <a:ahLst/>
              <a:cxnLst/>
              <a:rect l="l" t="t" r="r" b="b"/>
              <a:pathLst>
                <a:path w="10698480" h="1865376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lnTo>
                    <a:pt x="10387584" y="0"/>
                  </a:lnTo>
                  <a:cubicBezTo>
                    <a:pt x="10559288" y="0"/>
                    <a:pt x="10698480" y="139192"/>
                    <a:pt x="10698480" y="310896"/>
                  </a:cubicBezTo>
                  <a:lnTo>
                    <a:pt x="10698480" y="1554480"/>
                  </a:lnTo>
                  <a:cubicBezTo>
                    <a:pt x="10698480" y="1726184"/>
                    <a:pt x="10559288" y="1865376"/>
                    <a:pt x="10387584" y="1865376"/>
                  </a:cubicBezTo>
                  <a:lnTo>
                    <a:pt x="310896" y="1865376"/>
                  </a:lnTo>
                  <a:cubicBezTo>
                    <a:pt x="139192" y="1865376"/>
                    <a:pt x="0" y="1726184"/>
                    <a:pt x="0" y="1554480"/>
                  </a:cubicBezTo>
                  <a:close/>
                </a:path>
              </a:pathLst>
            </a:custGeom>
            <a:solidFill>
              <a:srgbClr val="F2F3F2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10698480" cy="1874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579"/>
                </a:lnSpc>
              </a:pPr>
              <a:r>
                <a:rPr lang="en-US" sz="2149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Deployable design</a:t>
              </a:r>
            </a:p>
            <a:p>
              <a:pPr algn="l">
                <a:lnSpc>
                  <a:spcPts val="2129"/>
                </a:lnSpc>
              </a:pPr>
              <a:r>
                <a:rPr lang="en-US" sz="1774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Current batch CSV/PCAP pipeline can be extended to streaming NetFlow/Kafka without changing the core rollout logic.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189720" y="3895344"/>
            <a:ext cx="8023860" cy="1399032"/>
            <a:chOff x="0" y="0"/>
            <a:chExt cx="10698480" cy="186537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698480" cy="1865376"/>
            </a:xfrm>
            <a:custGeom>
              <a:avLst/>
              <a:gdLst/>
              <a:ahLst/>
              <a:cxnLst/>
              <a:rect l="l" t="t" r="r" b="b"/>
              <a:pathLst>
                <a:path w="10698480" h="1865376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lnTo>
                    <a:pt x="10387584" y="0"/>
                  </a:lnTo>
                  <a:cubicBezTo>
                    <a:pt x="10559288" y="0"/>
                    <a:pt x="10698480" y="139192"/>
                    <a:pt x="10698480" y="310896"/>
                  </a:cubicBezTo>
                  <a:lnTo>
                    <a:pt x="10698480" y="1554480"/>
                  </a:lnTo>
                  <a:cubicBezTo>
                    <a:pt x="10698480" y="1726184"/>
                    <a:pt x="10559288" y="1865376"/>
                    <a:pt x="10387584" y="1865376"/>
                  </a:cubicBezTo>
                  <a:lnTo>
                    <a:pt x="310896" y="1865376"/>
                  </a:lnTo>
                  <a:cubicBezTo>
                    <a:pt x="139192" y="1865376"/>
                    <a:pt x="0" y="1726184"/>
                    <a:pt x="0" y="1554480"/>
                  </a:cubicBezTo>
                  <a:close/>
                </a:path>
              </a:pathLst>
            </a:custGeom>
            <a:solidFill>
              <a:srgbClr val="F2F3F2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10698480" cy="1874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579"/>
                </a:lnSpc>
              </a:pPr>
              <a:r>
                <a:rPr lang="en-US" sz="2149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Enterprise path</a:t>
              </a:r>
            </a:p>
            <a:p>
              <a:pPr algn="l">
                <a:lnSpc>
                  <a:spcPts val="2129"/>
                </a:lnSpc>
              </a:pPr>
              <a:r>
                <a:rPr lang="en-US" sz="1774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Future per-host graph state + GNN can replace the single aggregated state for larger topologies.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781812" y="5741670"/>
            <a:ext cx="16404336" cy="375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Key challenges &amp; mitigation</a:t>
            </a:r>
          </a:p>
        </p:txBody>
      </p:sp>
      <p:graphicFrame>
        <p:nvGraphicFramePr>
          <p:cNvPr id="24" name="Table 24"/>
          <p:cNvGraphicFramePr>
            <a:graphicFrameLocks noGrp="1"/>
          </p:cNvGraphicFramePr>
          <p:nvPr/>
        </p:nvGraphicFramePr>
        <p:xfrm>
          <a:off x="754380" y="6483858"/>
          <a:ext cx="16649700" cy="2525079"/>
        </p:xfrm>
        <a:graphic>
          <a:graphicData uri="http://schemas.openxmlformats.org/drawingml/2006/table">
            <a:tbl>
              <a:tblPr/>
              <a:tblGrid>
                <a:gridCol w="41795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03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9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196">
                <a:tc>
                  <a:txBody>
                    <a:bodyPr/>
                    <a:lstStyle/>
                    <a:p>
                      <a:pPr algn="ctr">
                        <a:lnSpc>
                          <a:spcPts val="1919"/>
                        </a:lnSpc>
                        <a:defRPr/>
                      </a:pPr>
                      <a:r>
                        <a:rPr lang="en-US" sz="1599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Challenge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19"/>
                        </a:lnSpc>
                        <a:defRPr/>
                      </a:pPr>
                      <a:r>
                        <a:rPr lang="en-US" sz="1599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Risk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19"/>
                        </a:lnSpc>
                        <a:defRPr/>
                      </a:pPr>
                      <a:r>
                        <a:rPr lang="en-US" sz="1599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Mitigation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295">
                <a:tc>
                  <a:txBody>
                    <a:bodyPr/>
                    <a:lstStyle/>
                    <a:p>
                      <a:pPr algn="l">
                        <a:lnSpc>
                          <a:spcPts val="1774"/>
                        </a:lnSpc>
                        <a:defRPr/>
                      </a:pPr>
                      <a:r>
                        <a:rPr lang="en-US" sz="1478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CIC-IDS2017 schema lacks IPs, timestamps and packet fields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74"/>
                        </a:lnSpc>
                        <a:defRPr/>
                      </a:pPr>
                      <a:r>
                        <a:rPr lang="en-US" sz="1478" b="1">
                          <a:solidFill>
                            <a:srgbClr val="C0392B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Medium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774"/>
                        </a:lnSpc>
                        <a:defRPr/>
                      </a:pPr>
                      <a:r>
                        <a:rPr lang="en-US" sz="1478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Adapter uses row-order chronology, fixed-flow windows and zero-fills unavailable features.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196">
                <a:tc>
                  <a:txBody>
                    <a:bodyPr/>
                    <a:lstStyle/>
                    <a:p>
                      <a:pPr algn="l">
                        <a:lnSpc>
                          <a:spcPts val="1774"/>
                        </a:lnSpc>
                        <a:defRPr/>
                      </a:pPr>
                      <a:r>
                        <a:rPr lang="en-US" sz="1478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Exfiltration labels in CIC-IDS2017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74"/>
                        </a:lnSpc>
                        <a:defRPr/>
                      </a:pPr>
                      <a:r>
                        <a:rPr lang="en-US" sz="1478" b="1">
                          <a:solidFill>
                            <a:srgbClr val="C0392B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Medium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774"/>
                        </a:lnSpc>
                        <a:defRPr/>
                      </a:pPr>
                      <a:r>
                        <a:rPr lang="en-US" sz="1478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Explicitly documented as a dataset limitation; synthetic checkpoint covers Exfiltration for development.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196">
                <a:tc>
                  <a:txBody>
                    <a:bodyPr/>
                    <a:lstStyle/>
                    <a:p>
                      <a:pPr algn="l">
                        <a:lnSpc>
                          <a:spcPts val="1774"/>
                        </a:lnSpc>
                        <a:defRPr/>
                      </a:pPr>
                      <a:r>
                        <a:rPr lang="en-US" sz="1478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Autoregressive rollout error can accumulate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74"/>
                        </a:lnSpc>
                        <a:defRPr/>
                      </a:pPr>
                      <a:r>
                        <a:rPr lang="en-US" sz="1478" b="1">
                          <a:solidFill>
                            <a:srgbClr val="C0392B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Medium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774"/>
                        </a:lnSpc>
                        <a:defRPr/>
                      </a:pPr>
                      <a:r>
                        <a:rPr lang="en-US" sz="1478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Evaluate at the trained K-step horizon; do not cherry-pick shorter horizons.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196">
                <a:tc>
                  <a:txBody>
                    <a:bodyPr/>
                    <a:lstStyle/>
                    <a:p>
                      <a:pPr algn="l">
                        <a:lnSpc>
                          <a:spcPts val="1774"/>
                        </a:lnSpc>
                        <a:defRPr/>
                      </a:pPr>
                      <a:r>
                        <a:rPr lang="en-US" sz="1478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Single aggregated state limits topology detail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74"/>
                        </a:lnSpc>
                        <a:defRPr/>
                      </a:pPr>
                      <a:r>
                        <a:rPr lang="en-US" sz="1478" b="1">
                          <a:solidFill>
                            <a:srgbClr val="262626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Low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774"/>
                        </a:lnSpc>
                        <a:defRPr/>
                      </a:pPr>
                      <a:r>
                        <a:rPr lang="en-US" sz="1478">
                          <a:solidFill>
                            <a:srgbClr val="26262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Extend to per-host graph state + GNN while keeping forecast heads/rollout logic.</a:t>
                      </a:r>
                      <a:endParaRPr lang="en-US" sz="1100"/>
                    </a:p>
                  </a:txBody>
                  <a:tcPr marL="45720" marR="45720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TextBox 25"/>
          <p:cNvSpPr txBox="1"/>
          <p:nvPr/>
        </p:nvSpPr>
        <p:spPr>
          <a:xfrm>
            <a:off x="809244" y="9222105"/>
            <a:ext cx="16404336" cy="366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Next steps: streaming ingest • per-host GNN state • more real datasets • SIEM/SOAR integration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485137" y="359321"/>
            <a:ext cx="1915887" cy="1249101"/>
            <a:chOff x="0" y="0"/>
            <a:chExt cx="2554516" cy="1665468"/>
          </a:xfrm>
        </p:grpSpPr>
        <p:sp>
          <p:nvSpPr>
            <p:cNvPr id="27" name="Freeform 27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19050"/>
              <a:ext cx="2554516" cy="1684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_Celeryy_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1945600" cy="23050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040"/>
                </a:lnSpc>
              </a:pPr>
              <a:r>
                <a:rPr lang="en-US" sz="42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75612" y="359321"/>
            <a:ext cx="1915887" cy="1249099"/>
            <a:chOff x="0" y="0"/>
            <a:chExt cx="2554516" cy="1665465"/>
          </a:xfrm>
        </p:grpSpPr>
        <p:sp>
          <p:nvSpPr>
            <p:cNvPr id="6" name="Freeform 6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1F497D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554516" cy="16845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KHUSHAL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762045" y="85649"/>
            <a:ext cx="3313681" cy="1684306"/>
            <a:chOff x="0" y="0"/>
            <a:chExt cx="4418241" cy="2245741"/>
          </a:xfrm>
        </p:grpSpPr>
        <p:sp>
          <p:nvSpPr>
            <p:cNvPr id="9" name="Freeform 9" descr="WhatsApp Image 2026-08-25 at 11.41.35 PM.jpe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70" r="-271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804672" y="1910715"/>
            <a:ext cx="8311896" cy="366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Measured performance — real CIC-IDS2017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0584" y="1522476"/>
            <a:ext cx="10533888" cy="6693408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777240" y="7516368"/>
            <a:ext cx="4114800" cy="1577340"/>
            <a:chOff x="0" y="0"/>
            <a:chExt cx="5486400" cy="21031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486400" cy="2103120"/>
            </a:xfrm>
            <a:custGeom>
              <a:avLst/>
              <a:gdLst/>
              <a:ahLst/>
              <a:cxnLst/>
              <a:rect l="l" t="t" r="r" b="b"/>
              <a:pathLst>
                <a:path w="5486400" h="2103120">
                  <a:moveTo>
                    <a:pt x="0" y="350520"/>
                  </a:moveTo>
                  <a:cubicBezTo>
                    <a:pt x="0" y="156972"/>
                    <a:pt x="156972" y="0"/>
                    <a:pt x="350520" y="0"/>
                  </a:cubicBezTo>
                  <a:lnTo>
                    <a:pt x="5135880" y="0"/>
                  </a:lnTo>
                  <a:cubicBezTo>
                    <a:pt x="5329428" y="0"/>
                    <a:pt x="5486400" y="156972"/>
                    <a:pt x="5486400" y="350520"/>
                  </a:cubicBezTo>
                  <a:lnTo>
                    <a:pt x="5486400" y="1752600"/>
                  </a:lnTo>
                  <a:cubicBezTo>
                    <a:pt x="5486400" y="1946148"/>
                    <a:pt x="5329428" y="2103120"/>
                    <a:pt x="5135880" y="2103120"/>
                  </a:cubicBezTo>
                  <a:lnTo>
                    <a:pt x="350520" y="2103120"/>
                  </a:lnTo>
                  <a:cubicBezTo>
                    <a:pt x="156972" y="2103120"/>
                    <a:pt x="0" y="1946148"/>
                    <a:pt x="0" y="1752600"/>
                  </a:cubicBezTo>
                  <a:close/>
                </a:path>
              </a:pathLst>
            </a:custGeom>
            <a:solidFill>
              <a:srgbClr val="F2F3F2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5486400" cy="2131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1F497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F1: 0.832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vs 0.447 baseline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166360" y="7516368"/>
            <a:ext cx="4389120" cy="1577340"/>
            <a:chOff x="0" y="0"/>
            <a:chExt cx="5852160" cy="210312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852160" cy="2103120"/>
            </a:xfrm>
            <a:custGeom>
              <a:avLst/>
              <a:gdLst/>
              <a:ahLst/>
              <a:cxnLst/>
              <a:rect l="l" t="t" r="r" b="b"/>
              <a:pathLst>
                <a:path w="5852160" h="2103120">
                  <a:moveTo>
                    <a:pt x="0" y="350520"/>
                  </a:moveTo>
                  <a:cubicBezTo>
                    <a:pt x="0" y="156972"/>
                    <a:pt x="156972" y="0"/>
                    <a:pt x="350520" y="0"/>
                  </a:cubicBezTo>
                  <a:lnTo>
                    <a:pt x="5501640" y="0"/>
                  </a:lnTo>
                  <a:cubicBezTo>
                    <a:pt x="5695188" y="0"/>
                    <a:pt x="5852160" y="156972"/>
                    <a:pt x="5852160" y="350520"/>
                  </a:cubicBezTo>
                  <a:lnTo>
                    <a:pt x="5852160" y="1752600"/>
                  </a:lnTo>
                  <a:cubicBezTo>
                    <a:pt x="5852160" y="1946148"/>
                    <a:pt x="5695188" y="2103120"/>
                    <a:pt x="5501640" y="2103120"/>
                  </a:cubicBezTo>
                  <a:lnTo>
                    <a:pt x="350520" y="2103120"/>
                  </a:lnTo>
                  <a:cubicBezTo>
                    <a:pt x="156972" y="2103120"/>
                    <a:pt x="0" y="1946148"/>
                    <a:pt x="0" y="1752600"/>
                  </a:cubicBezTo>
                  <a:close/>
                </a:path>
              </a:pathLst>
            </a:custGeom>
            <a:solidFill>
              <a:srgbClr val="E2F0D9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5852160" cy="2131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2E8B3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FPR: 0.075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vs 0.828 baseline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0131552" y="1910715"/>
            <a:ext cx="7214616" cy="366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Impact on defenders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104120" y="2468880"/>
            <a:ext cx="7406640" cy="1289304"/>
            <a:chOff x="0" y="0"/>
            <a:chExt cx="9875520" cy="171907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875520" cy="1719072"/>
            </a:xfrm>
            <a:custGeom>
              <a:avLst/>
              <a:gdLst/>
              <a:ahLst/>
              <a:cxnLst/>
              <a:rect l="l" t="t" r="r" b="b"/>
              <a:pathLst>
                <a:path w="9875520" h="1719072">
                  <a:moveTo>
                    <a:pt x="0" y="286512"/>
                  </a:moveTo>
                  <a:cubicBezTo>
                    <a:pt x="0" y="128270"/>
                    <a:pt x="128270" y="0"/>
                    <a:pt x="286512" y="0"/>
                  </a:cubicBezTo>
                  <a:lnTo>
                    <a:pt x="9589008" y="0"/>
                  </a:lnTo>
                  <a:cubicBezTo>
                    <a:pt x="9747250" y="0"/>
                    <a:pt x="9875520" y="128270"/>
                    <a:pt x="9875520" y="286512"/>
                  </a:cubicBezTo>
                  <a:lnTo>
                    <a:pt x="9875520" y="1432560"/>
                  </a:lnTo>
                  <a:cubicBezTo>
                    <a:pt x="9875520" y="1590802"/>
                    <a:pt x="9747250" y="1719072"/>
                    <a:pt x="9589008" y="1719072"/>
                  </a:cubicBezTo>
                  <a:lnTo>
                    <a:pt x="286512" y="1719072"/>
                  </a:lnTo>
                  <a:cubicBezTo>
                    <a:pt x="128270" y="1719072"/>
                    <a:pt x="0" y="1590802"/>
                    <a:pt x="0" y="1432560"/>
                  </a:cubicBezTo>
                  <a:close/>
                </a:path>
              </a:pathLst>
            </a:custGeom>
            <a:solidFill>
              <a:srgbClr val="F2F3F2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9875520" cy="17285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99"/>
                </a:lnSpc>
              </a:pPr>
              <a:r>
                <a:rPr lang="en-US" sz="2249" b="1">
                  <a:solidFill>
                    <a:srgbClr val="1F497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Early warning</a:t>
              </a:r>
            </a:p>
            <a:p>
              <a:pPr algn="l">
                <a:lnSpc>
                  <a:spcPts val="2249"/>
                </a:lnSpc>
              </a:pPr>
              <a:r>
                <a:rPr lang="en-US" sz="1874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Forecasts the likely infiltration trajectory before future attack-stage traffic is observed.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104120" y="4005072"/>
            <a:ext cx="7406640" cy="1289304"/>
            <a:chOff x="0" y="0"/>
            <a:chExt cx="9875520" cy="171907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875520" cy="1719072"/>
            </a:xfrm>
            <a:custGeom>
              <a:avLst/>
              <a:gdLst/>
              <a:ahLst/>
              <a:cxnLst/>
              <a:rect l="l" t="t" r="r" b="b"/>
              <a:pathLst>
                <a:path w="9875520" h="1719072">
                  <a:moveTo>
                    <a:pt x="0" y="286512"/>
                  </a:moveTo>
                  <a:cubicBezTo>
                    <a:pt x="0" y="128270"/>
                    <a:pt x="128270" y="0"/>
                    <a:pt x="286512" y="0"/>
                  </a:cubicBezTo>
                  <a:lnTo>
                    <a:pt x="9589008" y="0"/>
                  </a:lnTo>
                  <a:cubicBezTo>
                    <a:pt x="9747250" y="0"/>
                    <a:pt x="9875520" y="128270"/>
                    <a:pt x="9875520" y="286512"/>
                  </a:cubicBezTo>
                  <a:lnTo>
                    <a:pt x="9875520" y="1432560"/>
                  </a:lnTo>
                  <a:cubicBezTo>
                    <a:pt x="9875520" y="1590802"/>
                    <a:pt x="9747250" y="1719072"/>
                    <a:pt x="9589008" y="1719072"/>
                  </a:cubicBezTo>
                  <a:lnTo>
                    <a:pt x="286512" y="1719072"/>
                  </a:lnTo>
                  <a:cubicBezTo>
                    <a:pt x="128270" y="1719072"/>
                    <a:pt x="0" y="1590802"/>
                    <a:pt x="0" y="14325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9875520" cy="17285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99"/>
                </a:lnSpc>
              </a:pPr>
              <a:r>
                <a:rPr lang="en-US" sz="2249" b="1">
                  <a:solidFill>
                    <a:srgbClr val="1F497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Lower alert fatigue</a:t>
              </a:r>
            </a:p>
            <a:p>
              <a:pPr algn="l">
                <a:lnSpc>
                  <a:spcPts val="2249"/>
                </a:lnSpc>
              </a:pPr>
              <a:r>
                <a:rPr lang="en-US" sz="1874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Benchmark shows a much lower false-positive rate than the matched logistic-regression baseline.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104120" y="5541264"/>
            <a:ext cx="7406640" cy="1289304"/>
            <a:chOff x="0" y="0"/>
            <a:chExt cx="9875520" cy="171907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875520" cy="1719072"/>
            </a:xfrm>
            <a:custGeom>
              <a:avLst/>
              <a:gdLst/>
              <a:ahLst/>
              <a:cxnLst/>
              <a:rect l="l" t="t" r="r" b="b"/>
              <a:pathLst>
                <a:path w="9875520" h="1719072">
                  <a:moveTo>
                    <a:pt x="0" y="286512"/>
                  </a:moveTo>
                  <a:cubicBezTo>
                    <a:pt x="0" y="128270"/>
                    <a:pt x="128270" y="0"/>
                    <a:pt x="286512" y="0"/>
                  </a:cubicBezTo>
                  <a:lnTo>
                    <a:pt x="9589008" y="0"/>
                  </a:lnTo>
                  <a:cubicBezTo>
                    <a:pt x="9747250" y="0"/>
                    <a:pt x="9875520" y="128270"/>
                    <a:pt x="9875520" y="286512"/>
                  </a:cubicBezTo>
                  <a:lnTo>
                    <a:pt x="9875520" y="1432560"/>
                  </a:lnTo>
                  <a:cubicBezTo>
                    <a:pt x="9875520" y="1590802"/>
                    <a:pt x="9747250" y="1719072"/>
                    <a:pt x="9589008" y="1719072"/>
                  </a:cubicBezTo>
                  <a:lnTo>
                    <a:pt x="286512" y="1719072"/>
                  </a:lnTo>
                  <a:cubicBezTo>
                    <a:pt x="128270" y="1719072"/>
                    <a:pt x="0" y="1590802"/>
                    <a:pt x="0" y="1432560"/>
                  </a:cubicBezTo>
                  <a:close/>
                </a:path>
              </a:pathLst>
            </a:custGeom>
            <a:solidFill>
              <a:srgbClr val="F2F3F2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9525"/>
              <a:ext cx="9875520" cy="17285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99"/>
                </a:lnSpc>
              </a:pPr>
              <a:r>
                <a:rPr lang="en-US" sz="2249" b="1">
                  <a:solidFill>
                    <a:srgbClr val="1F497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Actionable context</a:t>
              </a:r>
            </a:p>
            <a:p>
              <a:pPr algn="l">
                <a:lnSpc>
                  <a:spcPts val="2249"/>
                </a:lnSpc>
              </a:pPr>
              <a:r>
                <a:rPr lang="en-US" sz="1874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Predicted MITRE ATT&amp;CK stage plus feature/time-step explanations help analysts understand why risk is rising.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104120" y="7077456"/>
            <a:ext cx="7406640" cy="1289304"/>
            <a:chOff x="0" y="0"/>
            <a:chExt cx="9875520" cy="171907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9875520" cy="1719072"/>
            </a:xfrm>
            <a:custGeom>
              <a:avLst/>
              <a:gdLst/>
              <a:ahLst/>
              <a:cxnLst/>
              <a:rect l="l" t="t" r="r" b="b"/>
              <a:pathLst>
                <a:path w="9875520" h="1719072">
                  <a:moveTo>
                    <a:pt x="0" y="286512"/>
                  </a:moveTo>
                  <a:cubicBezTo>
                    <a:pt x="0" y="128270"/>
                    <a:pt x="128270" y="0"/>
                    <a:pt x="286512" y="0"/>
                  </a:cubicBezTo>
                  <a:lnTo>
                    <a:pt x="9589008" y="0"/>
                  </a:lnTo>
                  <a:cubicBezTo>
                    <a:pt x="9747250" y="0"/>
                    <a:pt x="9875520" y="128270"/>
                    <a:pt x="9875520" y="286512"/>
                  </a:cubicBezTo>
                  <a:lnTo>
                    <a:pt x="9875520" y="1432560"/>
                  </a:lnTo>
                  <a:cubicBezTo>
                    <a:pt x="9875520" y="1590802"/>
                    <a:pt x="9747250" y="1719072"/>
                    <a:pt x="9589008" y="1719072"/>
                  </a:cubicBezTo>
                  <a:lnTo>
                    <a:pt x="286512" y="1719072"/>
                  </a:lnTo>
                  <a:cubicBezTo>
                    <a:pt x="128270" y="1719072"/>
                    <a:pt x="0" y="1590802"/>
                    <a:pt x="0" y="14325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9525"/>
              <a:ext cx="9875520" cy="17285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99"/>
                </a:lnSpc>
              </a:pPr>
              <a:r>
                <a:rPr lang="en-US" sz="2249" b="1">
                  <a:solidFill>
                    <a:srgbClr val="1F497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CII-friendly</a:t>
              </a:r>
            </a:p>
            <a:p>
              <a:pPr algn="l">
                <a:lnSpc>
                  <a:spcPts val="2249"/>
                </a:lnSpc>
              </a:pPr>
              <a:r>
                <a:rPr lang="en-US" sz="1874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Offline/on-prem design avoids cloud-API dependency and keeps inference within the monitored environment.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0131552" y="8676894"/>
            <a:ext cx="7351776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Core value: move from reactive detection → proactive, explainable cyber defence.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475612" y="359321"/>
            <a:ext cx="1915887" cy="1249101"/>
            <a:chOff x="0" y="0"/>
            <a:chExt cx="2554516" cy="1665468"/>
          </a:xfrm>
        </p:grpSpPr>
        <p:sp>
          <p:nvSpPr>
            <p:cNvPr id="33" name="Freeform 33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-19050"/>
              <a:ext cx="2554516" cy="1684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_Celeryy_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1945600" cy="23050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040"/>
                </a:lnSpc>
              </a:pPr>
              <a:r>
                <a:rPr lang="en-US" sz="42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AND REFERENCES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75612" y="359321"/>
            <a:ext cx="1915887" cy="1249099"/>
            <a:chOff x="0" y="0"/>
            <a:chExt cx="2554516" cy="1665465"/>
          </a:xfrm>
        </p:grpSpPr>
        <p:sp>
          <p:nvSpPr>
            <p:cNvPr id="6" name="Freeform 6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1F497D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554516" cy="16845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KHUSHAL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762045" y="85649"/>
            <a:ext cx="3313681" cy="1684306"/>
            <a:chOff x="0" y="0"/>
            <a:chExt cx="4418241" cy="2245741"/>
          </a:xfrm>
        </p:grpSpPr>
        <p:sp>
          <p:nvSpPr>
            <p:cNvPr id="9" name="Freeform 9" descr="WhatsApp Image 2026-08-25 at 11.41.35 PM.jpe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70" r="-271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754380" y="1755648"/>
            <a:ext cx="8092440" cy="1440180"/>
            <a:chOff x="0" y="0"/>
            <a:chExt cx="10789920" cy="19202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789920" cy="1920240"/>
            </a:xfrm>
            <a:custGeom>
              <a:avLst/>
              <a:gdLst/>
              <a:ahLst/>
              <a:cxnLst/>
              <a:rect l="l" t="t" r="r" b="b"/>
              <a:pathLst>
                <a:path w="10789920" h="1920240">
                  <a:moveTo>
                    <a:pt x="0" y="320040"/>
                  </a:moveTo>
                  <a:cubicBezTo>
                    <a:pt x="0" y="143256"/>
                    <a:pt x="143256" y="0"/>
                    <a:pt x="320040" y="0"/>
                  </a:cubicBezTo>
                  <a:lnTo>
                    <a:pt x="10469880" y="0"/>
                  </a:lnTo>
                  <a:cubicBezTo>
                    <a:pt x="10646664" y="0"/>
                    <a:pt x="10789920" y="143256"/>
                    <a:pt x="10789920" y="320040"/>
                  </a:cubicBezTo>
                  <a:lnTo>
                    <a:pt x="10789920" y="1600200"/>
                  </a:lnTo>
                  <a:cubicBezTo>
                    <a:pt x="10789920" y="1776984"/>
                    <a:pt x="10646664" y="1920240"/>
                    <a:pt x="10469880" y="1920240"/>
                  </a:cubicBezTo>
                  <a:lnTo>
                    <a:pt x="320040" y="1920240"/>
                  </a:lnTo>
                  <a:cubicBezTo>
                    <a:pt x="143256" y="1920240"/>
                    <a:pt x="0" y="1776984"/>
                    <a:pt x="0" y="1600200"/>
                  </a:cubicBezTo>
                  <a:close/>
                </a:path>
              </a:pathLst>
            </a:custGeom>
            <a:solidFill>
              <a:srgbClr val="F2F3F2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10789920" cy="19392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25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Project repository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u="sng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  <a:hlinkClick r:id="rId4" tooltip="https://github.com/ROHIT-25607/netforecast"/>
                </a:rPr>
                <a:t>github.com/ROHIT-25607/netforecast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781812" y="3515487"/>
            <a:ext cx="7408723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Implementation / reproducibility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3829" y="3976878"/>
            <a:ext cx="7474819" cy="2552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9"/>
              </a:lnSpc>
            </a:pPr>
            <a:r>
              <a:rPr lang="en-US" sz="2424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README: project scope, architecture, setup and run commands</a:t>
            </a:r>
          </a:p>
          <a:p>
            <a:pPr algn="l">
              <a:lnSpc>
                <a:spcPts val="2909"/>
              </a:lnSpc>
            </a:pPr>
            <a:r>
              <a:rPr lang="en-US" sz="2424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docs/architecture.md: model, state representation and benchmark methodology</a:t>
            </a:r>
          </a:p>
          <a:p>
            <a:pPr algn="l">
              <a:lnSpc>
                <a:spcPts val="2909"/>
              </a:lnSpc>
            </a:pPr>
            <a:r>
              <a:rPr lang="en-US" sz="2424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submission/PRESENTATION.md: SIH presentation narrative</a:t>
            </a:r>
          </a:p>
          <a:p>
            <a:pPr algn="l">
              <a:lnSpc>
                <a:spcPts val="2909"/>
              </a:lnSpc>
            </a:pPr>
            <a:r>
              <a:rPr lang="en-US" sz="2424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assets/screenshots/: prototype / explainability views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217152" y="1773555"/>
            <a:ext cx="8106156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Key research &amp; framework references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226296" y="2367915"/>
            <a:ext cx="8019288" cy="3895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7"/>
              </a:lnSpc>
            </a:pPr>
            <a:r>
              <a:rPr lang="en-US" sz="2164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[1] Ha &amp; Schmidhuber — World Models (2018), arXiv:1803.10122</a:t>
            </a:r>
          </a:p>
          <a:p>
            <a:pPr algn="l">
              <a:lnSpc>
                <a:spcPts val="2597"/>
              </a:lnSpc>
            </a:pPr>
            <a:r>
              <a:rPr lang="en-US" sz="2164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[2] Hochreiter &amp; Schmidhuber — Long Short-Term Memory (1997)</a:t>
            </a:r>
          </a:p>
          <a:p>
            <a:pPr algn="l">
              <a:lnSpc>
                <a:spcPts val="2597"/>
              </a:lnSpc>
            </a:pPr>
            <a:r>
              <a:rPr lang="en-US" sz="2164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[3] Bahdanau, Cho &amp; Bengio — Attention / alignment (ICLR 2015)</a:t>
            </a:r>
          </a:p>
          <a:p>
            <a:pPr algn="l">
              <a:lnSpc>
                <a:spcPts val="2597"/>
              </a:lnSpc>
            </a:pPr>
            <a:r>
              <a:rPr lang="en-US" sz="2164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[4] Lundberg &amp; Lee — SHAP / model interpretation (NeurIPS 2017)</a:t>
            </a:r>
          </a:p>
          <a:p>
            <a:pPr algn="l">
              <a:lnSpc>
                <a:spcPts val="2597"/>
              </a:lnSpc>
            </a:pPr>
            <a:r>
              <a:rPr lang="en-US" sz="2164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[5] MITRE ATT&amp;CK Enterprise — tactics &amp; techniques framework</a:t>
            </a:r>
          </a:p>
          <a:p>
            <a:pPr algn="l">
              <a:lnSpc>
                <a:spcPts val="2597"/>
              </a:lnSpc>
            </a:pPr>
            <a:r>
              <a:rPr lang="en-US" sz="2164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[6] Sharafaldin, Lashkari &amp; Ghorbani — CIC-IDS2017 dataset (ICISSP 2018)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061705" y="7605236"/>
            <a:ext cx="8325611" cy="1653064"/>
            <a:chOff x="-219455" y="-9525"/>
            <a:chExt cx="11100815" cy="2204085"/>
          </a:xfrm>
        </p:grpSpPr>
        <p:sp>
          <p:nvSpPr>
            <p:cNvPr id="18" name="Freeform 18"/>
            <p:cNvSpPr/>
            <p:nvPr/>
          </p:nvSpPr>
          <p:spPr>
            <a:xfrm>
              <a:off x="-219455" y="0"/>
              <a:ext cx="11100815" cy="2194560"/>
            </a:xfrm>
            <a:custGeom>
              <a:avLst/>
              <a:gdLst/>
              <a:ahLst/>
              <a:cxnLst/>
              <a:rect l="l" t="t" r="r" b="b"/>
              <a:pathLst>
                <a:path w="10881360" h="219456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10515600" y="0"/>
                  </a:lnTo>
                  <a:cubicBezTo>
                    <a:pt x="10717657" y="0"/>
                    <a:pt x="10881360" y="163703"/>
                    <a:pt x="10881360" y="365760"/>
                  </a:cubicBezTo>
                  <a:lnTo>
                    <a:pt x="10881360" y="1828800"/>
                  </a:lnTo>
                  <a:cubicBezTo>
                    <a:pt x="10881360" y="2030857"/>
                    <a:pt x="10717657" y="2194560"/>
                    <a:pt x="10515600" y="2194560"/>
                  </a:cubicBezTo>
                  <a:lnTo>
                    <a:pt x="365760" y="2194560"/>
                  </a:lnTo>
                  <a:cubicBezTo>
                    <a:pt x="163703" y="2194560"/>
                    <a:pt x="0" y="2030857"/>
                    <a:pt x="0" y="1828800"/>
                  </a:cubicBezTo>
                  <a:close/>
                </a:path>
              </a:pathLst>
            </a:custGeom>
            <a:solidFill>
              <a:srgbClr val="F2F3F2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10881360" cy="22040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99"/>
                </a:lnSpc>
              </a:pPr>
              <a:r>
                <a:rPr lang="en-US" sz="2249" b="1">
                  <a:solidFill>
                    <a:srgbClr val="1F497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Benchmark basis</a:t>
              </a:r>
            </a:p>
            <a:p>
              <a:pPr algn="l">
                <a:lnSpc>
                  <a:spcPts val="2249"/>
                </a:lnSpc>
              </a:pPr>
              <a:r>
                <a:rPr lang="en-US" sz="1874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Chronologically held-out real CIC-IDS2017 traffic; logistic regression and LSTM world model use the same context, horizon and test split.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81812" y="7997952"/>
            <a:ext cx="8037576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9"/>
              </a:lnSpc>
            </a:pPr>
            <a:r>
              <a:rPr lang="en-US" sz="1924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Research framing: learn network dynamics → simulate future states → forecast attack progression → explain the warning.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475612" y="359321"/>
            <a:ext cx="1915887" cy="1249101"/>
            <a:chOff x="0" y="0"/>
            <a:chExt cx="2554516" cy="1665468"/>
          </a:xfrm>
        </p:grpSpPr>
        <p:sp>
          <p:nvSpPr>
            <p:cNvPr id="22" name="Freeform 22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2554516" cy="1684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_Celeryy_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869</Words>
  <Application>Microsoft Office PowerPoint</Application>
  <PresentationFormat>Custom</PresentationFormat>
  <Paragraphs>131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Times New Roman Bold</vt:lpstr>
      <vt:lpstr>Calibri</vt:lpstr>
      <vt:lpstr>Arial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Statement ID – SIH26153 Problem Statement Title – AI based Network Attack Forecasting from Network Traffic Data Theme – Blockchain &amp; Cybersecurity PS Category – Software Team ID – Team Name – _Celeryy_</dc:title>
  <cp:lastModifiedBy>rohit kumar singh</cp:lastModifiedBy>
  <cp:revision>3</cp:revision>
  <dcterms:created xsi:type="dcterms:W3CDTF">2006-08-16T00:00:00Z</dcterms:created>
  <dcterms:modified xsi:type="dcterms:W3CDTF">2026-10-05T16:32:53Z</dcterms:modified>
  <dc:identifier>DAHXJPvokdE</dc:identifier>
</cp:coreProperties>
</file>